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457200" y="838646"/>
            <a:ext cx="2667595" cy="300782"/>
          </a:xfrm>
          <a:prstGeom prst="roundRect">
            <a:avLst>
              <a:gd name="adj" fmla="val 30370355"/>
            </a:avLst>
          </a:prstGeom>
          <a:solidFill>
            <a:srgbClr val="1A1A2E">
              <a:alpha val="80000"/>
            </a:srgbClr>
          </a:solidFill>
          <a:ln w="6350">
            <a:solidFill>
              <a:srgbClr val="FFFFFF"/>
            </a:solidFill>
          </a:ln>
        </p:spPr>
        <p:txBody>
          <a:bodyPr wrap="square" lIns="106680" tIns="106680" rIns="106680" bIns="106680" rtlCol="0" anchor="t">
            <a:normAutofit/>
          </a:bodyPr>
          <a:lstStyle/>
          <a:p>
            <a:pPr algn="l" indent="0" marL="0">
              <a:buNone/>
            </a:pPr>
            <a:r>
              <a:rPr lang="en-US" sz="1020" dirty="0">
                <a:solidFill>
                  <a:srgbClr val="D7DEF5"/>
                </a:solidFill>
                <a:latin typeface="ui-sans-serif" pitchFamily="34" charset="0"/>
                <a:ea typeface="ui-sans-serif" pitchFamily="34" charset="-122"/>
                <a:cs typeface="ui-sans-serif" pitchFamily="34" charset="-120"/>
              </a:rPr>
              <a:t>Versión académica: umbral y cascada</a:t>
            </a:r>
            <a:endParaRPr lang="en-US" sz="1020" dirty="0"/>
          </a:p>
        </p:txBody>
      </p:sp>
      <p:sp>
        <p:nvSpPr>
          <p:cNvPr id="3" name="Text 1"/>
          <p:cNvSpPr/>
          <p:nvPr/>
        </p:nvSpPr>
        <p:spPr>
          <a:xfrm>
            <a:off x="4803577" y="918418"/>
            <a:ext cx="3883223" cy="3306812"/>
          </a:xfrm>
          <a:prstGeom prst="roundRect">
            <a:avLst>
              <a:gd name="adj" fmla="val 60834"/>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4" name="Text 2"/>
          <p:cNvSpPr/>
          <p:nvPr/>
        </p:nvSpPr>
        <p:spPr>
          <a:xfrm>
            <a:off x="457200" y="-361504"/>
            <a:ext cx="4122408" cy="1047750"/>
          </a:xfrm>
          <a:prstGeom prst="rect">
            <a:avLst/>
          </a:prstGeom>
          <a:noFill/>
          <a:ln/>
        </p:spPr>
        <p:txBody>
          <a:bodyPr wrap="square" lIns="0" tIns="0" rIns="0" bIns="0" rtlCol="0" anchor="t"/>
          <a:lstStyle/>
          <a:p>
            <a:pPr indent="0" marL="0">
              <a:lnSpc>
                <a:spcPts val="8250"/>
              </a:lnSpc>
              <a:buNone/>
            </a:pPr>
            <a:r>
              <a:rPr lang="en-US" sz="8250" dirty="0">
                <a:solidFill>
                  <a:srgbClr val="F5F7FF"/>
                </a:solidFill>
                <a:latin typeface="ui-sans-serif" pitchFamily="34" charset="0"/>
                <a:ea typeface="ui-sans-serif" pitchFamily="34" charset="-122"/>
                <a:cs typeface="ui-sans-serif" pitchFamily="34" charset="-120"/>
              </a:rPr>
              <a:t>📘</a:t>
            </a:r>
            <a:endParaRPr lang="en-US" sz="8250" dirty="0"/>
          </a:p>
        </p:txBody>
      </p:sp>
      <p:sp>
        <p:nvSpPr>
          <p:cNvPr id="5" name="Text 3"/>
          <p:cNvSpPr/>
          <p:nvPr/>
        </p:nvSpPr>
        <p:spPr>
          <a:xfrm>
            <a:off x="457200" y="1291828"/>
            <a:ext cx="4041577" cy="2895600"/>
          </a:xfrm>
          <a:prstGeom prst="rect">
            <a:avLst/>
          </a:prstGeom>
          <a:noFill/>
          <a:ln/>
        </p:spPr>
        <p:txBody>
          <a:bodyPr wrap="square" lIns="0" tIns="0" rIns="0" bIns="0" rtlCol="0" anchor="t"/>
          <a:lstStyle/>
          <a:p>
            <a:pPr indent="0" marL="0">
              <a:lnSpc>
                <a:spcPts val="5700"/>
              </a:lnSpc>
              <a:buNone/>
            </a:pPr>
            <a:r>
              <a:rPr lang="en-US" sz="6000" dirty="0">
                <a:solidFill>
                  <a:srgbClr val="7C3AED"/>
                </a:solidFill>
                <a:latin typeface="Instrument Serif" pitchFamily="34" charset="0"/>
                <a:ea typeface="Instrument Serif" pitchFamily="34" charset="-122"/>
                <a:cs typeface="Instrument Serif" pitchFamily="34" charset="-120"/>
              </a:rPr>
              <a:t>Erdős-Rényi e interbancario: condición de contagio</a:t>
            </a:r>
            <a:endParaRPr lang="en-US" sz="6000" dirty="0"/>
          </a:p>
        </p:txBody>
      </p:sp>
      <p:sp>
        <p:nvSpPr>
          <p:cNvPr id="6" name="Text 4"/>
          <p:cNvSpPr/>
          <p:nvPr/>
        </p:nvSpPr>
        <p:spPr>
          <a:xfrm>
            <a:off x="457200" y="4339828"/>
            <a:ext cx="4041577" cy="1165324"/>
          </a:xfrm>
          <a:prstGeom prst="rect">
            <a:avLst/>
          </a:prstGeom>
          <a:noFill/>
          <a:ln/>
        </p:spPr>
        <p:txBody>
          <a:bodyPr wrap="square" lIns="0" tIns="0" rIns="0" bIns="0" rtlCol="0" anchor="t"/>
          <a:lstStyle/>
          <a:p>
            <a:pPr indent="0" marL="0">
              <a:lnSpc>
                <a:spcPts val="1836"/>
              </a:lnSpc>
              <a:buNone/>
            </a:pPr>
            <a:r>
              <a:rPr lang="en-US" sz="1224" dirty="0">
                <a:solidFill>
                  <a:srgbClr val="D7DEF5"/>
                </a:solidFill>
                <a:latin typeface="ui-sans-serif" pitchFamily="34" charset="0"/>
                <a:ea typeface="ui-sans-serif" pitchFamily="34" charset="-122"/>
                <a:cs typeface="ui-sans-serif" pitchFamily="34" charset="-120"/>
              </a:rPr>
              <a:t>En una red dirigida aleatoria, el contagio no depende solo de cuántos enlaces hay, sino de si los bancos alcanzados por un default son lo bastante vulnerables como para seguir transmitiendo pérdidas.</a:t>
            </a:r>
            <a:endParaRPr lang="en-US" sz="1224" dirty="0"/>
          </a:p>
        </p:txBody>
      </p:sp>
      <p:sp>
        <p:nvSpPr>
          <p:cNvPr id="7" name="Text 5"/>
          <p:cNvSpPr/>
          <p:nvPr/>
        </p:nvSpPr>
        <p:spPr>
          <a:xfrm>
            <a:off x="4971157" y="1085999"/>
            <a:ext cx="3619024" cy="190500"/>
          </a:xfrm>
          <a:prstGeom prst="rect">
            <a:avLst/>
          </a:prstGeom>
          <a:noFill/>
          <a:ln/>
        </p:spPr>
        <p:txBody>
          <a:bodyPr wrap="square" lIns="0" tIns="0" rIns="0" bIns="0" rtlCol="0" anchor="t"/>
          <a:lstStyle/>
          <a:p>
            <a:pPr indent="0" marL="0">
              <a:lnSpc>
                <a:spcPts val="1500"/>
              </a:lnSpc>
              <a:buNone/>
            </a:pPr>
            <a:r>
              <a:rPr lang="en-US" sz="1050" dirty="0">
                <a:solidFill>
                  <a:srgbClr val="06B6D4"/>
                </a:solidFill>
                <a:latin typeface="ui-sans-serif" pitchFamily="34" charset="0"/>
                <a:ea typeface="ui-sans-serif" pitchFamily="34" charset="-122"/>
                <a:cs typeface="ui-sans-serif" pitchFamily="34" charset="-120"/>
              </a:rPr>
              <a:t>Condición micro de vulnerabilidad</a:t>
            </a:r>
            <a:endParaRPr lang="en-US" sz="1050" dirty="0"/>
          </a:p>
        </p:txBody>
      </p:sp>
      <p:sp>
        <p:nvSpPr>
          <p:cNvPr id="8" name="Text 6"/>
          <p:cNvSpPr/>
          <p:nvPr/>
        </p:nvSpPr>
        <p:spPr>
          <a:xfrm>
            <a:off x="5161657" y="1836093"/>
            <a:ext cx="2192971" cy="209550"/>
          </a:xfrm>
          <a:prstGeom prst="rect">
            <a:avLst/>
          </a:prstGeom>
          <a:noFill/>
          <a:ln/>
        </p:spPr>
        <p:txBody>
          <a:bodyPr wrap="square" lIns="0" tIns="0" rIns="0" bIns="0" rtlCol="0" anchor="t"/>
          <a:lstStyle/>
          <a:p>
            <a:pPr indent="0" marL="0">
              <a:lnSpc>
                <a:spcPts val="1912"/>
              </a:lnSpc>
              <a:buNone/>
            </a:pPr>
            <a:r>
              <a:rPr lang="en-US" sz="1416" dirty="0">
                <a:solidFill>
                  <a:srgbClr val="F7FBFF"/>
                </a:solidFill>
                <a:latin typeface="Georgia" pitchFamily="34" charset="0"/>
                <a:ea typeface="Georgia" pitchFamily="34" charset="-122"/>
                <a:cs typeface="Georgia" pitchFamily="34" charset="-120"/>
              </a:rPr>
              <a:t>θ</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 [K</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 (1-q)A</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 A</a:t>
            </a:r>
            <a:endParaRPr lang="en-US" sz="1416" dirty="0"/>
          </a:p>
        </p:txBody>
      </p:sp>
      <p:sp>
        <p:nvSpPr>
          <p:cNvPr id="9" name="Text 7"/>
          <p:cNvSpPr/>
          <p:nvPr/>
        </p:nvSpPr>
        <p:spPr>
          <a:xfrm>
            <a:off x="5161657" y="2666851"/>
            <a:ext cx="820049" cy="209550"/>
          </a:xfrm>
          <a:prstGeom prst="rect">
            <a:avLst/>
          </a:prstGeom>
          <a:noFill/>
          <a:ln/>
        </p:spPr>
        <p:txBody>
          <a:bodyPr wrap="square" lIns="0" tIns="0" rIns="0" bIns="0" rtlCol="0" anchor="t"/>
          <a:lstStyle/>
          <a:p>
            <a:pPr indent="0" marL="0">
              <a:lnSpc>
                <a:spcPts val="1912"/>
              </a:lnSpc>
              <a:buNone/>
            </a:pPr>
            <a:r>
              <a:rPr lang="en-US" sz="1416" dirty="0">
                <a:solidFill>
                  <a:srgbClr val="F7FBFF"/>
                </a:solidFill>
                <a:latin typeface="Georgia" pitchFamily="34" charset="0"/>
                <a:ea typeface="Georgia" pitchFamily="34" charset="-122"/>
                <a:cs typeface="Georgia" pitchFamily="34" charset="-120"/>
              </a:rPr>
              <a:t>θ</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 &lt; 1 / j</a:t>
            </a:r>
            <a:endParaRPr lang="en-US" sz="1416" dirty="0"/>
          </a:p>
        </p:txBody>
      </p:sp>
      <p:sp>
        <p:nvSpPr>
          <p:cNvPr id="10" name="Text 8"/>
          <p:cNvSpPr/>
          <p:nvPr/>
        </p:nvSpPr>
        <p:spPr>
          <a:xfrm>
            <a:off x="4971157" y="3052316"/>
            <a:ext cx="3548063" cy="10053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Interpretación: más capital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K</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o más activos externos líquidos elevan el umbral; más exposiciones interbancarias lo reducen. Gai y Kapadia llaman “vulnerable” al banco que cae con el default de un único vecino.</a:t>
            </a:r>
            <a:endParaRPr lang="en-US" sz="111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457200" y="348258"/>
            <a:ext cx="4299942" cy="3004542"/>
          </a:xfrm>
          <a:prstGeom prst="roundRect">
            <a:avLst>
              <a:gd name="adj" fmla="val 66955"/>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3" name="Text 1"/>
          <p:cNvSpPr/>
          <p:nvPr/>
        </p:nvSpPr>
        <p:spPr>
          <a:xfrm>
            <a:off x="457200" y="3543300"/>
            <a:ext cx="4299942" cy="2074962"/>
          </a:xfrm>
          <a:prstGeom prst="roundRect">
            <a:avLst>
              <a:gd name="adj" fmla="val 96950"/>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4" name="Text 2"/>
          <p:cNvSpPr/>
          <p:nvPr/>
        </p:nvSpPr>
        <p:spPr>
          <a:xfrm>
            <a:off x="5023842" y="348258"/>
            <a:ext cx="3662958" cy="1042095"/>
          </a:xfrm>
          <a:prstGeom prst="roundRect">
            <a:avLst>
              <a:gd name="adj" fmla="val 193042"/>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5191423" y="793105"/>
            <a:ext cx="3327797" cy="152400"/>
          </a:xfrm>
          <a:prstGeom prst="roundRect">
            <a:avLst>
              <a:gd name="adj" fmla="val 5994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6" name="Text 4"/>
          <p:cNvSpPr/>
          <p:nvPr/>
        </p:nvSpPr>
        <p:spPr>
          <a:xfrm>
            <a:off x="5023842" y="1580852"/>
            <a:ext cx="3662958" cy="1042095"/>
          </a:xfrm>
          <a:prstGeom prst="roundRect">
            <a:avLst>
              <a:gd name="adj" fmla="val 193042"/>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7" name="Text 5"/>
          <p:cNvSpPr/>
          <p:nvPr/>
        </p:nvSpPr>
        <p:spPr>
          <a:xfrm>
            <a:off x="5191423" y="2025700"/>
            <a:ext cx="3327797" cy="152400"/>
          </a:xfrm>
          <a:prstGeom prst="roundRect">
            <a:avLst>
              <a:gd name="adj" fmla="val 5994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8" name="Text 6"/>
          <p:cNvSpPr/>
          <p:nvPr/>
        </p:nvSpPr>
        <p:spPr>
          <a:xfrm>
            <a:off x="5023842" y="2813447"/>
            <a:ext cx="3662958" cy="2193280"/>
          </a:xfrm>
          <a:prstGeom prst="roundRect">
            <a:avLst>
              <a:gd name="adj" fmla="val 91720"/>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457200" y="-474613"/>
            <a:ext cx="8394192" cy="708571"/>
          </a:xfrm>
          <a:prstGeom prst="rect">
            <a:avLst/>
          </a:prstGeom>
          <a:noFill/>
          <a:ln/>
        </p:spPr>
        <p:txBody>
          <a:bodyPr wrap="square" lIns="0" tIns="0" rIns="0" bIns="0" rtlCol="0" anchor="t"/>
          <a:lstStyle/>
          <a:p>
            <a:pPr indent="0" marL="0">
              <a:lnSpc>
                <a:spcPts val="5580"/>
              </a:lnSpc>
              <a:buNone/>
            </a:pPr>
            <a:r>
              <a:rPr lang="en-US" sz="3720" dirty="0">
                <a:solidFill>
                  <a:srgbClr val="F5F7FF"/>
                </a:solidFill>
                <a:latin typeface="Instrument Serif" pitchFamily="34" charset="0"/>
                <a:ea typeface="Instrument Serif" pitchFamily="34" charset="-122"/>
                <a:cs typeface="Instrument Serif" pitchFamily="34" charset="-120"/>
              </a:rPr>
              <a:t>Umbral de cascada y lectura económica</a:t>
            </a:r>
            <a:endParaRPr lang="en-US" sz="3720" dirty="0"/>
          </a:p>
        </p:txBody>
      </p:sp>
      <p:sp>
        <p:nvSpPr>
          <p:cNvPr id="10" name="Text 8"/>
          <p:cNvSpPr/>
          <p:nvPr/>
        </p:nvSpPr>
        <p:spPr>
          <a:xfrm>
            <a:off x="624780" y="515838"/>
            <a:ext cx="4044077" cy="190500"/>
          </a:xfrm>
          <a:prstGeom prst="rect">
            <a:avLst/>
          </a:prstGeom>
          <a:noFill/>
          <a:ln/>
        </p:spPr>
        <p:txBody>
          <a:bodyPr wrap="square" lIns="0" tIns="0" rIns="0" bIns="0" rtlCol="0" anchor="t"/>
          <a:lstStyle/>
          <a:p>
            <a:pPr indent="0" marL="0">
              <a:lnSpc>
                <a:spcPts val="1500"/>
              </a:lnSpc>
              <a:buNone/>
            </a:pPr>
            <a:r>
              <a:rPr lang="en-US" sz="1050" dirty="0">
                <a:solidFill>
                  <a:srgbClr val="A78BFA"/>
                </a:solidFill>
                <a:latin typeface="ui-sans-serif" pitchFamily="34" charset="0"/>
                <a:ea typeface="ui-sans-serif" pitchFamily="34" charset="-122"/>
                <a:cs typeface="ui-sans-serif" pitchFamily="34" charset="-120"/>
              </a:rPr>
              <a:t>Condición macro</a:t>
            </a:r>
            <a:endParaRPr lang="en-US" sz="1050" dirty="0"/>
          </a:p>
        </p:txBody>
      </p:sp>
      <p:sp>
        <p:nvSpPr>
          <p:cNvPr id="11" name="Text 9"/>
          <p:cNvSpPr/>
          <p:nvPr/>
        </p:nvSpPr>
        <p:spPr>
          <a:xfrm>
            <a:off x="815280" y="1265932"/>
            <a:ext cx="921910" cy="209550"/>
          </a:xfrm>
          <a:prstGeom prst="rect">
            <a:avLst/>
          </a:prstGeom>
          <a:noFill/>
          <a:ln/>
        </p:spPr>
        <p:txBody>
          <a:bodyPr wrap="square" lIns="0" tIns="0" rIns="0" bIns="0" rtlCol="0" anchor="t"/>
          <a:lstStyle/>
          <a:p>
            <a:pPr indent="0" marL="0">
              <a:lnSpc>
                <a:spcPts val="1912"/>
              </a:lnSpc>
              <a:buNone/>
            </a:pPr>
            <a:r>
              <a:rPr lang="en-US" sz="1416" dirty="0">
                <a:solidFill>
                  <a:srgbClr val="F7FBFF"/>
                </a:solidFill>
                <a:latin typeface="Georgia" pitchFamily="34" charset="0"/>
                <a:ea typeface="Georgia" pitchFamily="34" charset="-122"/>
                <a:cs typeface="Georgia" pitchFamily="34" charset="-120"/>
              </a:rPr>
              <a:t>G′</a:t>
            </a:r>
            <a:pPr indent="0" marL="0">
              <a:lnSpc>
                <a:spcPts val="1912"/>
              </a:lnSpc>
              <a:buNone/>
            </a:pPr>
            <a:r>
              <a:rPr lang="en-US" sz="1416" dirty="0">
                <a:solidFill>
                  <a:srgbClr val="F7FBFF"/>
                </a:solidFill>
                <a:latin typeface="Georgia" pitchFamily="34" charset="0"/>
                <a:ea typeface="Georgia" pitchFamily="34" charset="-122"/>
                <a:cs typeface="Georgia" pitchFamily="34" charset="-120"/>
              </a:rPr>
              <a:t>(1) = 1</a:t>
            </a:r>
            <a:endParaRPr lang="en-US" sz="1416" dirty="0"/>
          </a:p>
        </p:txBody>
      </p:sp>
      <p:sp>
        <p:nvSpPr>
          <p:cNvPr id="12" name="Text 10"/>
          <p:cNvSpPr/>
          <p:nvPr/>
        </p:nvSpPr>
        <p:spPr>
          <a:xfrm>
            <a:off x="815280" y="1840706"/>
            <a:ext cx="1407988" cy="200025"/>
          </a:xfrm>
          <a:prstGeom prst="rect">
            <a:avLst/>
          </a:prstGeom>
          <a:noFill/>
          <a:ln/>
        </p:spPr>
        <p:txBody>
          <a:bodyPr wrap="square" lIns="0" tIns="0" rIns="0" bIns="0" rtlCol="0" anchor="t"/>
          <a:lstStyle/>
          <a:p>
            <a:pPr indent="0" marL="0">
              <a:lnSpc>
                <a:spcPts val="1847"/>
              </a:lnSpc>
              <a:buNone/>
            </a:pPr>
            <a:r>
              <a:rPr lang="en-US" sz="1368" dirty="0">
                <a:solidFill>
                  <a:srgbClr val="F7FBFF"/>
                </a:solidFill>
                <a:latin typeface="Georgia" pitchFamily="34" charset="0"/>
                <a:ea typeface="Georgia" pitchFamily="34" charset="-122"/>
                <a:cs typeface="Georgia" pitchFamily="34" charset="-120"/>
              </a:rPr>
              <a:t>Σ</a:t>
            </a:r>
            <a:pPr indent="0" marL="0">
              <a:lnSpc>
                <a:spcPts val="1847"/>
              </a:lnSpc>
              <a:buNone/>
            </a:pPr>
            <a:r>
              <a:rPr lang="en-US" sz="1368" dirty="0">
                <a:solidFill>
                  <a:srgbClr val="F7FBFF"/>
                </a:solidFill>
                <a:latin typeface="Georgia" pitchFamily="34" charset="0"/>
                <a:ea typeface="Georgia" pitchFamily="34" charset="-122"/>
                <a:cs typeface="Georgia" pitchFamily="34" charset="-120"/>
              </a:rPr>
              <a:t> j·k·v</a:t>
            </a:r>
            <a:pPr indent="0" marL="0">
              <a:lnSpc>
                <a:spcPts val="1847"/>
              </a:lnSpc>
              <a:buNone/>
            </a:pPr>
            <a:r>
              <a:rPr lang="en-US" sz="1368" dirty="0">
                <a:solidFill>
                  <a:srgbClr val="F7FBFF"/>
                </a:solidFill>
                <a:latin typeface="Georgia" pitchFamily="34" charset="0"/>
                <a:ea typeface="Georgia" pitchFamily="34" charset="-122"/>
                <a:cs typeface="Georgia" pitchFamily="34" charset="-120"/>
              </a:rPr>
              <a:t>·p</a:t>
            </a:r>
            <a:pPr indent="0" marL="0">
              <a:lnSpc>
                <a:spcPts val="1847"/>
              </a:lnSpc>
              <a:buNone/>
            </a:pPr>
            <a:r>
              <a:rPr lang="en-US" sz="1368" dirty="0">
                <a:solidFill>
                  <a:srgbClr val="F7FBFF"/>
                </a:solidFill>
                <a:latin typeface="Georgia" pitchFamily="34" charset="0"/>
                <a:ea typeface="Georgia" pitchFamily="34" charset="-122"/>
                <a:cs typeface="Georgia" pitchFamily="34" charset="-120"/>
              </a:rPr>
              <a:t> = z</a:t>
            </a:r>
            <a:endParaRPr lang="en-US" sz="1368" dirty="0"/>
          </a:p>
        </p:txBody>
      </p:sp>
      <p:sp>
        <p:nvSpPr>
          <p:cNvPr id="13" name="Text 11"/>
          <p:cNvSpPr/>
          <p:nvPr/>
        </p:nvSpPr>
        <p:spPr>
          <a:xfrm>
            <a:off x="624780" y="2179886"/>
            <a:ext cx="3964781" cy="10053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Aquí,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p</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es la distribución conjunta de in-degree y out-degree,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v</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es la probabilidad de que un banco con in-degree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j</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sea vulnerable y </a:t>
            </a:r>
            <a:pPr indent="0" marL="0">
              <a:lnSpc>
                <a:spcPts val="1585"/>
              </a:lnSpc>
              <a:buNone/>
            </a:pPr>
            <a:r>
              <a:rPr lang="en-US" sz="1116" i="1" dirty="0">
                <a:solidFill>
                  <a:srgbClr val="D7DEF5"/>
                </a:solidFill>
                <a:latin typeface="ui-sans-serif" pitchFamily="34" charset="0"/>
                <a:ea typeface="ui-sans-serif" pitchFamily="34" charset="-122"/>
                <a:cs typeface="ui-sans-serif" pitchFamily="34" charset="-120"/>
              </a:rPr>
              <a:t>z</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es el grado medio. Si el lado izquierdo supera 1 en términos reproductivos, la cascada puede sostenerse.</a:t>
            </a:r>
            <a:endParaRPr lang="en-US" sz="1116" dirty="0"/>
          </a:p>
        </p:txBody>
      </p:sp>
      <p:sp>
        <p:nvSpPr>
          <p:cNvPr id="14" name="Text 12"/>
          <p:cNvSpPr/>
          <p:nvPr/>
        </p:nvSpPr>
        <p:spPr>
          <a:xfrm>
            <a:off x="624780" y="3710880"/>
            <a:ext cx="4044077" cy="190500"/>
          </a:xfrm>
          <a:prstGeom prst="rect">
            <a:avLst/>
          </a:prstGeom>
          <a:noFill/>
          <a:ln/>
        </p:spPr>
        <p:txBody>
          <a:bodyPr wrap="square" lIns="0" tIns="0" rIns="0" bIns="0" rtlCol="0" anchor="t"/>
          <a:lstStyle/>
          <a:p>
            <a:pPr indent="0" marL="0">
              <a:lnSpc>
                <a:spcPts val="1500"/>
              </a:lnSpc>
              <a:buNone/>
            </a:pPr>
            <a:r>
              <a:rPr lang="en-US" sz="1050" dirty="0">
                <a:solidFill>
                  <a:srgbClr val="06B6D4"/>
                </a:solidFill>
                <a:latin typeface="ui-sans-serif" pitchFamily="34" charset="0"/>
                <a:ea typeface="ui-sans-serif" pitchFamily="34" charset="-122"/>
                <a:cs typeface="ui-sans-serif" pitchFamily="34" charset="-120"/>
              </a:rPr>
              <a:t>Intuición tipo branching process</a:t>
            </a:r>
            <a:endParaRPr lang="en-US" sz="1050" dirty="0"/>
          </a:p>
        </p:txBody>
      </p:sp>
      <p:sp>
        <p:nvSpPr>
          <p:cNvPr id="15" name="Text 13"/>
          <p:cNvSpPr/>
          <p:nvPr/>
        </p:nvSpPr>
        <p:spPr>
          <a:xfrm>
            <a:off x="624780" y="4015680"/>
            <a:ext cx="3964781" cy="4021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Cada banco vulnerable alcanzado genera nuevos bancos vulnerables esperados.</a:t>
            </a:r>
            <a:endParaRPr lang="en-US" sz="1116" dirty="0"/>
          </a:p>
        </p:txBody>
      </p:sp>
      <p:sp>
        <p:nvSpPr>
          <p:cNvPr id="16" name="Text 14"/>
          <p:cNvSpPr/>
          <p:nvPr/>
        </p:nvSpPr>
        <p:spPr>
          <a:xfrm>
            <a:off x="624780" y="4532114"/>
            <a:ext cx="3964781" cy="4021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Si el “número reproductivo” esperado es menor que 1, la cadena se extingue.</a:t>
            </a:r>
            <a:endParaRPr lang="en-US" sz="1116" dirty="0"/>
          </a:p>
        </p:txBody>
      </p:sp>
      <p:sp>
        <p:nvSpPr>
          <p:cNvPr id="17" name="Text 15"/>
          <p:cNvSpPr/>
          <p:nvPr/>
        </p:nvSpPr>
        <p:spPr>
          <a:xfrm>
            <a:off x="624780" y="5048548"/>
            <a:ext cx="3964781" cy="4021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Si supera 1, aparece un clúster gigante vulnerable y el contagio sistémico tiene probabilidad positiva.</a:t>
            </a:r>
            <a:endParaRPr lang="en-US" sz="1116" dirty="0"/>
          </a:p>
        </p:txBody>
      </p:sp>
      <p:sp>
        <p:nvSpPr>
          <p:cNvPr id="18" name="Text 16"/>
          <p:cNvSpPr/>
          <p:nvPr/>
        </p:nvSpPr>
        <p:spPr>
          <a:xfrm>
            <a:off x="5191423" y="515838"/>
            <a:ext cx="718795"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Subcrítico</a:t>
            </a:r>
            <a:endParaRPr lang="en-US" sz="1116" dirty="0"/>
          </a:p>
        </p:txBody>
      </p:sp>
      <p:sp>
        <p:nvSpPr>
          <p:cNvPr id="19" name="Text 17"/>
          <p:cNvSpPr/>
          <p:nvPr/>
        </p:nvSpPr>
        <p:spPr>
          <a:xfrm>
            <a:off x="8121700" y="515838"/>
            <a:ext cx="405470" cy="201067"/>
          </a:xfrm>
          <a:prstGeom prst="rect">
            <a:avLst/>
          </a:prstGeom>
          <a:noFill/>
          <a:ln/>
        </p:spPr>
        <p:txBody>
          <a:bodyPr wrap="square" lIns="0" tIns="0" rIns="0" bIns="0" rtlCol="0" anchor="t"/>
          <a:lstStyle/>
          <a:p>
            <a:pPr indent="0" marL="0">
              <a:lnSpc>
                <a:spcPts val="1585"/>
              </a:lnSpc>
              <a:buNone/>
            </a:pPr>
            <a:r>
              <a:rPr lang="en-US" sz="1116" dirty="0">
                <a:solidFill>
                  <a:srgbClr val="06B6D4"/>
                </a:solidFill>
                <a:latin typeface="ui-sans-serif" pitchFamily="34" charset="0"/>
                <a:ea typeface="ui-sans-serif" pitchFamily="34" charset="-122"/>
                <a:cs typeface="ui-sans-serif" pitchFamily="34" charset="-120"/>
              </a:rPr>
              <a:t>R &lt; 1</a:t>
            </a:r>
            <a:endParaRPr lang="en-US" sz="1116" dirty="0"/>
          </a:p>
        </p:txBody>
      </p:sp>
      <p:sp>
        <p:nvSpPr>
          <p:cNvPr id="20" name="Text 18"/>
          <p:cNvSpPr/>
          <p:nvPr/>
        </p:nvSpPr>
        <p:spPr>
          <a:xfrm>
            <a:off x="5191423" y="1021705"/>
            <a:ext cx="3394353"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Defaults locales, clústeres finitos.</a:t>
            </a:r>
            <a:endParaRPr lang="en-US" sz="1116" dirty="0"/>
          </a:p>
        </p:txBody>
      </p:sp>
      <p:sp>
        <p:nvSpPr>
          <p:cNvPr id="21" name="Text 19"/>
          <p:cNvSpPr/>
          <p:nvPr/>
        </p:nvSpPr>
        <p:spPr>
          <a:xfrm>
            <a:off x="5191423" y="1748433"/>
            <a:ext cx="864072"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Supercrítico</a:t>
            </a:r>
            <a:endParaRPr lang="en-US" sz="1116" dirty="0"/>
          </a:p>
        </p:txBody>
      </p:sp>
      <p:sp>
        <p:nvSpPr>
          <p:cNvPr id="22" name="Text 20"/>
          <p:cNvSpPr/>
          <p:nvPr/>
        </p:nvSpPr>
        <p:spPr>
          <a:xfrm>
            <a:off x="8121700" y="1748433"/>
            <a:ext cx="405470" cy="201067"/>
          </a:xfrm>
          <a:prstGeom prst="rect">
            <a:avLst/>
          </a:prstGeom>
          <a:noFill/>
          <a:ln/>
        </p:spPr>
        <p:txBody>
          <a:bodyPr wrap="square" lIns="0" tIns="0" rIns="0" bIns="0" rtlCol="0" anchor="t"/>
          <a:lstStyle/>
          <a:p>
            <a:pPr indent="0" marL="0">
              <a:lnSpc>
                <a:spcPts val="1585"/>
              </a:lnSpc>
              <a:buNone/>
            </a:pPr>
            <a:r>
              <a:rPr lang="en-US" sz="1116" dirty="0">
                <a:solidFill>
                  <a:srgbClr val="7C3AED"/>
                </a:solidFill>
                <a:latin typeface="ui-sans-serif" pitchFamily="34" charset="0"/>
                <a:ea typeface="ui-sans-serif" pitchFamily="34" charset="-122"/>
                <a:cs typeface="ui-sans-serif" pitchFamily="34" charset="-120"/>
              </a:rPr>
              <a:t>R &gt; 1</a:t>
            </a:r>
            <a:endParaRPr lang="en-US" sz="1116" dirty="0"/>
          </a:p>
        </p:txBody>
      </p:sp>
      <p:sp>
        <p:nvSpPr>
          <p:cNvPr id="23" name="Text 21"/>
          <p:cNvSpPr/>
          <p:nvPr/>
        </p:nvSpPr>
        <p:spPr>
          <a:xfrm>
            <a:off x="5191423" y="2254300"/>
            <a:ext cx="3394353"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Puede emerger cascada extensa.</a:t>
            </a:r>
            <a:endParaRPr lang="en-US" sz="1116" dirty="0"/>
          </a:p>
        </p:txBody>
      </p:sp>
      <p:sp>
        <p:nvSpPr>
          <p:cNvPr id="24" name="Text 22"/>
          <p:cNvSpPr/>
          <p:nvPr/>
        </p:nvSpPr>
        <p:spPr>
          <a:xfrm>
            <a:off x="5191423" y="2981027"/>
            <a:ext cx="3394353" cy="190500"/>
          </a:xfrm>
          <a:prstGeom prst="rect">
            <a:avLst/>
          </a:prstGeom>
          <a:noFill/>
          <a:ln/>
        </p:spPr>
        <p:txBody>
          <a:bodyPr wrap="square" lIns="0" tIns="0" rIns="0" bIns="0" rtlCol="0" anchor="t"/>
          <a:lstStyle/>
          <a:p>
            <a:pPr indent="0" marL="0">
              <a:lnSpc>
                <a:spcPts val="1500"/>
              </a:lnSpc>
              <a:buNone/>
            </a:pPr>
            <a:r>
              <a:rPr lang="en-US" sz="1050" dirty="0">
                <a:solidFill>
                  <a:srgbClr val="7C3AED"/>
                </a:solidFill>
                <a:latin typeface="ui-sans-serif" pitchFamily="34" charset="0"/>
                <a:ea typeface="ui-sans-serif" pitchFamily="34" charset="-122"/>
                <a:cs typeface="ui-sans-serif" pitchFamily="34" charset="-120"/>
              </a:rPr>
              <a:t>Mensaje académico de cierre</a:t>
            </a:r>
            <a:endParaRPr lang="en-US" sz="1050" dirty="0"/>
          </a:p>
        </p:txBody>
      </p:sp>
      <p:sp>
        <p:nvSpPr>
          <p:cNvPr id="25" name="Text 23"/>
          <p:cNvSpPr/>
          <p:nvPr/>
        </p:nvSpPr>
        <p:spPr>
          <a:xfrm>
            <a:off x="5191423" y="3285827"/>
            <a:ext cx="3327797" cy="1553319"/>
          </a:xfrm>
          <a:prstGeom prst="rect">
            <a:avLst/>
          </a:prstGeom>
          <a:noFill/>
          <a:ln/>
        </p:spPr>
        <p:txBody>
          <a:bodyPr wrap="square" lIns="0" tIns="0" rIns="0" bIns="0" rtlCol="0" anchor="t"/>
          <a:lstStyle/>
          <a:p>
            <a:pPr indent="0" marL="0">
              <a:lnSpc>
                <a:spcPts val="1749"/>
              </a:lnSpc>
              <a:buNone/>
            </a:pPr>
            <a:r>
              <a:rPr lang="en-US" sz="1272" dirty="0">
                <a:solidFill>
                  <a:srgbClr val="D7DEF5"/>
                </a:solidFill>
                <a:latin typeface="ui-sans-serif" pitchFamily="34" charset="0"/>
                <a:ea typeface="ui-sans-serif" pitchFamily="34" charset="-122"/>
                <a:cs typeface="ui-sans-serif" pitchFamily="34" charset="-120"/>
              </a:rPr>
              <a:t>En un Erdős-Rényi, el grado esperado es aproximadamente </a:t>
            </a:r>
            <a:pPr indent="0" marL="0">
              <a:lnSpc>
                <a:spcPts val="1749"/>
              </a:lnSpc>
              <a:buNone/>
            </a:pPr>
            <a:r>
              <a:rPr lang="en-US" sz="1272" b="1" dirty="0">
                <a:solidFill>
                  <a:srgbClr val="D7DEF5"/>
                </a:solidFill>
                <a:latin typeface="ui-sans-serif" pitchFamily="34" charset="0"/>
                <a:ea typeface="ui-sans-serif" pitchFamily="34" charset="-122"/>
                <a:cs typeface="ui-sans-serif" pitchFamily="34" charset="-120"/>
              </a:rPr>
              <a:t>p(N-1)</a:t>
            </a:r>
            <a:pPr indent="0" marL="0">
              <a:lnSpc>
                <a:spcPts val="1749"/>
              </a:lnSpc>
              <a:buNone/>
            </a:pPr>
            <a:r>
              <a:rPr lang="en-US" sz="1272" dirty="0">
                <a:solidFill>
                  <a:srgbClr val="D7DEF5"/>
                </a:solidFill>
                <a:latin typeface="ui-sans-serif" pitchFamily="34" charset="0"/>
                <a:ea typeface="ui-sans-serif" pitchFamily="34" charset="-122"/>
                <a:cs typeface="ui-sans-serif" pitchFamily="34" charset="-120"/>
              </a:rPr>
              <a:t>. Por eso, al mover </a:t>
            </a:r>
            <a:pPr indent="0" marL="0">
              <a:lnSpc>
                <a:spcPts val="1749"/>
              </a:lnSpc>
              <a:buNone/>
            </a:pPr>
            <a:r>
              <a:rPr lang="en-US" sz="1272" i="1" dirty="0">
                <a:solidFill>
                  <a:srgbClr val="D7DEF5"/>
                </a:solidFill>
                <a:latin typeface="ui-sans-serif" pitchFamily="34" charset="0"/>
                <a:ea typeface="ui-sans-serif" pitchFamily="34" charset="-122"/>
                <a:cs typeface="ui-sans-serif" pitchFamily="34" charset="-120"/>
              </a:rPr>
              <a:t>p</a:t>
            </a:r>
            <a:pPr indent="0" marL="0">
              <a:lnSpc>
                <a:spcPts val="1749"/>
              </a:lnSpc>
              <a:buNone/>
            </a:pPr>
            <a:r>
              <a:rPr lang="en-US" sz="1272" dirty="0">
                <a:solidFill>
                  <a:srgbClr val="D7DEF5"/>
                </a:solidFill>
                <a:latin typeface="ui-sans-serif" pitchFamily="34" charset="0"/>
                <a:ea typeface="ui-sans-serif" pitchFamily="34" charset="-122"/>
                <a:cs typeface="ui-sans-serif" pitchFamily="34" charset="-120"/>
              </a:rPr>
              <a:t> cambias simultáneamente la conectividad media y la probabilidad de entrar o salir de la región crítica donde una perturbación idiosincrática puede convertirse en cascada sistémica.</a:t>
            </a:r>
            <a:endParaRPr lang="en-US" sz="1272" dirty="0"/>
          </a:p>
        </p:txBody>
      </p:sp>
    </p:spTree>
  </p:cSld>
  <p:clrMapOvr>
    <a:masterClrMapping/>
  </p:clrMapOvr>
</p:sld>
</file>

<file path=ppt/slides/slide3.xml><?xml version="1.0" encoding="UTF-8" standalone="yes"?>
<p:sld xmlns:a="http://schemas.openxmlformats.org/drawingml/2006/main" xmlns:r="http://schemas.openxmlformats.org/officeDocument/2006/relationships" xmlns:p="http://schemas.openxmlformats.org/presentationml/2006/main"><p:cSld name="Slide 3"><p:bg><p:bgPr><a:solidFill><a:srgbClr val="0F0A2A"/></a:solidFill></p:bgPr></p:bg><p:spTree><p:nvGrpSpPr><p:cNvPr id="1" name=""/><p:cNvGrpSpPr/><p:nvPr/></p:nvGrpSpPr><p:grpSpPr><a:xfrm><a:off x="0" y="0"/><a:ext cx="0" cy="0"/><a:chOff x="0" y="0"/><a:chExt cx="0" cy="0"/></a:xfrm></p:grpSpPr><p:sp><p:nvSpPr><p:cNvPr id="2" name="Text 0"></p:cNvPr><p:cNvSpPr/><p:nvPr></p:nvPr></p:nvSpPr><p:spPr><a:xfrm><a:off x="457200" y="-96589"/><a:ext cx="4180433" cy="2553295"/></a:xfrm><a:prstGeom prst="roundRect"><a:avLst><a:gd name="adj" fmla="val 78788"/></a:avLst></a:prstGeom><a:solidFill><a:srgbClr val="1A1A2E"><a:alpha val="80000"/></a:srgbClr></a:solidFill><a:ln w="6350"><a:solidFill><a:srgbClr val="FFFFFF"/></a:solidFill></a:ln><a:effectLst> <a:outerShdw sx="100000" sy="100000" kx="0" ky="0" algn="bl" rotWithShape="0" blurRad="381000" dist="133350" dir="5400000"> <a:srgbClr val="000000"> <a:alpha val="18000"/></a:srgbClr> </a:outerShdw></a:effectLst></p:spPr><p:txBody><a:bodyPr wrap="none" lIns="0" tIns="0" rIns="0" bIns="0" rtlCol="0" anchor="ctr"><a:normAutofit/></a:bodyPr><a:lstStyle/><a:p><a:pPr indent="0" marL="0"><a:buNone/></a:pPr><a:endParaRPr lang="en-US" dirty="0"/></a:p></p:txBody></p:sp><p:sp><p:nvSpPr><p:cNvPr id="3" name="Text 1"></p:cNvPr><p:cNvSpPr/><p:nvPr></p:nvPr></p:nvSpPr><p:spPr><a:xfrm><a:off x="457200" y="2647206"/><a:ext cx="4180433" cy="3415754"/></a:xfrm><a:prstGeom prst="roundRect"><a:avLst><a:gd name="adj" fmla="val 58894"/></a:avLst></a:prstGeom><a:solidFill><a:srgbClr val="1A1A2E"><a:alpha val="80000"/></a:srgbClr></a:solidFill><a:ln w="6350"><a:solidFill><a:srgbClr val="FFFFFF"/></a:solidFill></a:ln><a:effectLst> <a:outerShdw sx="100000" sy="100000" kx="0" ky="0" algn="bl" rotWithShape="0" blurRad="381000" dist="133350" dir="5400000"> <a:srgbClr val="000000"> <a:alpha val="18000"/></a:srgbClr> </a:outerShdw></a:effectLst></p:spPr><p:txBody><a:bodyPr wrap="none" lIns="0" tIns="0" rIns="0" bIns="0" rtlCol="0" anchor="ctr"><a:normAutofit/></a:bodyPr><a:lstStyle/><a:p><a:pPr indent="0" marL="0"><a:buNone/></a:pPr><a:endParaRPr lang="en-US" dirty="0"/></a:p></p:txBody></p:sp><p:sp><p:nvSpPr><p:cNvPr id="4" name="Text 2"></p:cNvPr><p:cNvSpPr/><p:nvPr></p:nvPr></p:nvSpPr><p:spPr><a:xfrm><a:off x="4904333" y="-96589"/><a:ext cx="3782467" cy="2276029"/></a:xfrm><a:prstGeom prst="roundRect"><a:avLst><a:gd name="adj" fmla="val 88386"/></a:avLst></a:prstGeom><a:solidFill><a:srgbClr val="1A1A2E"><a:alpha val="80000"/></a:srgbClr></a:solidFill><a:ln w="6350"><a:solidFill><a:srgbClr val="FFFFFF"/></a:solidFill></a:ln><a:effectLst> <a:outerShdw sx="100000" sy="100000" kx="0" ky="0" algn="bl" rotWithShape="0" blurRad="381000" dist="133350" dir="5400000"> <a:srgbClr val="000000"> <a:alpha val="18000"/></a:srgbClr> </a:outerShdw></a:effectLst></p:spPr><p:txBody><a:bodyPr wrap="none" lIns="0" tIns="0" rIns="0" bIns="0" rtlCol="0" anchor="ctr"><a:normAutofit/></a:bodyPr><a:lstStyle/><a:p><a:pPr indent="0" marL="0"><a:buNone/></a:pPr><a:endParaRPr lang="en-US" dirty="0"/></a:p></p:txBody></p:sp><p:sp><p:nvSpPr><p:cNvPr id="5" name="Text 3"></p:cNvPr><p:cNvSpPr/><p:nvPr></p:nvPr></p:nvSpPr><p:spPr><a:xfrm><a:off x="4904333" y="2369939"/><a:ext cx="3782467" cy="1346895"/></a:xfrm><a:prstGeom prst="roundRect"><a:avLst><a:gd name="adj" fmla="val 149357"/></a:avLst></a:prstGeom><a:solidFill><a:srgbClr val="1A1A2E"><a:alpha val="80000"/></a:srgbClr></a:solidFill><a:ln w="6350"><a:solidFill><a:srgbClr val="FFFFFF"/></a:solidFill></a:ln><a:effectLst> <a:outerShdw sx="100000" sy="100000" kx="0" ky="0" algn="bl" rotWithShape="0" blurRad="381000" dist="133350" dir="5400000"> <a:srgbClr val="000000"> <a:alpha val="18000"/></a:srgbClr> </a:outerShdw></a:effectLst></p:spPr><p:txBody><a:bodyPr wrap="none" lIns="0" tIns="0" rIns="0" bIns="0" rtlCol="0" anchor="ctr"><a:normAutofit/></a:bodyPr><a:lstStyle/><a:p><a:pPr indent="0" marL="0"><a:buNone/></a:pPr><a:endParaRPr lang="en-US" dirty="0"/></a:p></p:txBody></p:sp><p:sp><p:nvSpPr><p:cNvPr id="6" name="Text 4"></p:cNvPr><p:cNvSpPr/><p:nvPr></p:nvPr></p:nvSpPr><p:spPr><a:xfrm><a:off x="5071914" y="2814786"/><a:ext cx="3447306" cy="152400"/></a:xfrm><a:prstGeom prst="roundRect"><a:avLst><a:gd name="adj" fmla="val 59940000"/></a:avLst></a:prstGeom><a:solidFill><a:srgbClr val="FFFFFF"><a:alpha val="8000"/></a:srgbClr></a:solidFill><a:ln></a:ln></p:spPr><p:txBody><a:bodyPr wrap="none" lIns="0" tIns="0" rIns="0" bIns="0" rtlCol="0" anchor="ctr"><a:normAutofit/></a:bodyPr><a:lstStyle/><a:p><a:pPr indent="0" marL="0"><a:buNone/></a:pPr><a:endParaRPr lang="en-US" dirty="0"/></a:p></p:txBody></p:sp><p:sp><p:nvSpPr><p:cNvPr id="7" name="Text 5"></p:cNvPr><p:cNvSpPr/><p:nvPr></p:nvPr></p:nvSpPr><p:spPr><a:xfrm><a:off x="5071914" y="3396853"/><a:ext cx="3447306" cy="152400"/></a:xfrm><a:prstGeom prst="roundRect"><a:avLst><a:gd name="adj" fmla="val 59940000"/></a:avLst></a:prstGeom><a:solidFill><a:srgbClr val="FFFFFF"><a:alpha val="8000"/></a:srgbClr></a:solidFill><a:ln></a:ln></p:spPr><p:txBody><a:bodyPr wrap="none" lIns="0" tIns="0" rIns="0" bIns="0" rtlCol="0" anchor="ctr"><a:normAutofit/></a:bodyPr><a:lstStyle/><a:p><a:pPr indent="0" marL="0"><a:buNone/></a:pPr><a:endParaRPr lang="en-US" dirty="0"/></a:p></p:txBody></p:sp><p:sp><p:nvSpPr><p:cNvPr id="8" name="Text 6"></p:cNvPr><p:cNvSpPr/><p:nvPr></p:nvPr></p:nvSpPr><p:spPr><a:xfrm><a:off x="4904333" y="3907334"/><a:ext cx="3782467" cy="1934766"/></a:xfrm><a:prstGeom prst="roundRect"><a:avLst><a:gd name="adj" fmla="val 103975"/></a:avLst></a:prstGeom><a:solidFill><a:srgbClr val="1A1A2E"><a:alpha val="80000"/></a:srgbClr></a:solidFill><a:ln w="6350"><a:solidFill><a:srgbClr val="FFFFFF"/></a:solidFill></a:ln><a:effectLst> <a:outerShdw sx="100000" sy="100000" kx="0" ky="0" algn="bl" rotWithShape="0" blurRad="381000" dist="133350" dir="5400000"> <a:srgbClr val="000000"> <a:alpha val="18000"/></a:srgbClr> </a:outerShdw></a:effectLst></p:spPr><p:txBody><a:bodyPr wrap="none" lIns="0" tIns="0" rIns="0" bIns="0" rtlCol="0" anchor="ctr"><a:normAutofit/></a:bodyPr><a:lstStyle/><a:p><a:pPr indent="0" marL="0"><a:buNone/></a:pPr><a:endParaRPr lang="en-US" dirty="0"/></a:p></p:txBody></p:sp><p:sp><p:nvSpPr><p:cNvPr id="9" name="Text 7"></p:cNvPr><p:cNvSpPr/><p:nvPr></p:nvPr></p:nvSpPr><p:spPr><a:xfrm><a:off x="457200" y="-919460"/><a:ext cx="8394192" cy="708571"/></a:xfrm><a:prstGeom prst="rect"><a:avLst></a:avLst></a:prstGeom><a:noFill/><a:ln></a:ln></p:spPr><p:txBody><a:bodyPr wrap="square" lIns="0" tIns="0" rIns="0" bIns="0" rtlCol="0" anchor="t"></a:bodyPr><a:lstStyle/><a:p><a:pPr indent="0" marL="0"><a:lnSpc><a:spcPts val="5580"/></a:lnSpc><a:buNone/></a:pPr><a:r><a:rPr lang="en-US" sz="3720" dirty="0"><a:solidFill><a:srgbClr val="F5F7FF"/></a:solidFill><a:latin typeface="Instrument Serif" pitchFamily="34" charset="0"/><a:ea typeface="Instrument Serif" pitchFamily="34" charset="-122"/><a:cs typeface="Instrument Serif" pitchFamily="34" charset="-120"/></a:rPr><a:t>Ejemplo numérico breve</a:t></a:r><a:endParaRPr lang="en-US" sz="3720" dirty="0"/></a:p></p:txBody></p:sp><p:sp><p:nvSpPr><p:cNvPr id="10" name="Text 8"></p:cNvPr><p:cNvSpPr/><p:nvPr></p:nvPr></p:nvSpPr><p:spPr><a:xfrm><a:off x="624780" y="70991"/><a:ext cx="3922178" cy="190500"/></a:xfrm><a:prstGeom prst="rect"><a:avLst></a:avLst></a:prstGeom><a:noFill/><a:ln></a:ln></p:spPr><p:txBody><a:bodyPr wrap="square" lIns="0" tIns="0" rIns="0" bIns="0" rtlCol="0" anchor="t"></a:bodyPr><a:lstStyle/><a:p><a:pPr indent="0" marL="0"><a:lnSpc><a:spcPts val="1500"/></a:lnSpc><a:buNone/></a:pPr><a:r><a:rPr lang="en-US" sz="1050" dirty="0"><a:solidFill><a:srgbClr val="06B6D4"/></a:solidFill><a:latin typeface="ui-sans-serif" pitchFamily="34" charset="0"/><a:ea typeface="ui-sans-serif" pitchFamily="34" charset="-122"/><a:cs typeface="ui-sans-serif" pitchFamily="34" charset="-120"/></a:rPr><a:t>Supuestos</a:t></a:r><a:endParaRPr lang="en-US" sz="1050" dirty="0"/></a:p></p:txBody></p:sp><p:sp><p:nvSpPr><p:cNvPr id="11" name="Text 9"></p:cNvPr><p:cNvSpPr/><p:nvPr></p:nvPr></p:nvSpPr><p:spPr><a:xfrm><a:off x="624780" y="375791"/><a:ext cx="1846362" cy="402134"/></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 Red Erdős-Rényi con </a:t></a:r><a:pPr indent="0" marL="0"><a:lnSpc><a:spcPts val="1585"/></a:lnSpc><a:buNone/></a:pPr><a:r><a:rPr lang="en-US" sz="1116" b="1" dirty="0"><a:solidFill><a:srgbClr val="D7DEF5"/></a:solidFill><a:latin typeface="ui-sans-serif" pitchFamily="34" charset="0"/><a:ea typeface="ui-sans-serif" pitchFamily="34" charset="-122"/><a:cs typeface="ui-sans-serif" pitchFamily="34" charset="-120"/></a:rPr><a:t>N = 100</a:t></a:r><a:pPr indent="0" marL="0"><a:lnSpc><a:spcPts val="1585"/></a:lnSpc><a:buNone/></a:pPr><a:r><a:rPr lang="en-US" sz="1116" dirty="0"><a:solidFill><a:srgbClr val="D7DEF5"/></a:solidFill><a:latin typeface="ui-sans-serif" pitchFamily="34" charset="0"/><a:ea typeface="ui-sans-serif" pitchFamily="34" charset="-122"/><a:cs typeface="ui-sans-serif" pitchFamily="34" charset="-120"/></a:rPr><a:t>.</a:t></a:r><a:endParaRPr lang="en-US" sz="1116" dirty="0"/></a:p></p:txBody></p:sp><p:sp><p:nvSpPr><p:cNvPr id="12" name="Text 10"></p:cNvPr><p:cNvSpPr/><p:nvPr></p:nvPr></p:nvSpPr><p:spPr><a:xfrm><a:off x="2623542" y="375791"/><a:ext cx="1846511" cy="402134"/></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 Probabilidad de enlace </a:t></a:r><a:pPr indent="0" marL="0"><a:lnSpc><a:spcPts val="1585"/></a:lnSpc><a:buNone/></a:pPr><a:r><a:rPr lang="en-US" sz="1116" b="1" dirty="0"><a:solidFill><a:srgbClr val="D7DEF5"/></a:solidFill><a:latin typeface="ui-sans-serif" pitchFamily="34" charset="0"/><a:ea typeface="ui-sans-serif" pitchFamily="34" charset="-122"/><a:cs typeface="ui-sans-serif" pitchFamily="34" charset="-120"/></a:rPr><a:t>p = 0.04</a:t></a:r><a:pPr indent="0" marL="0"><a:lnSpc><a:spcPts val="1585"/></a:lnSpc><a:buNone/></a:pPr><a:r><a:rPr lang="en-US" sz="1116" dirty="0"><a:solidFill><a:srgbClr val="D7DEF5"/></a:solidFill><a:latin typeface="ui-sans-serif" pitchFamily="34" charset="0"/><a:ea typeface="ui-sans-serif" pitchFamily="34" charset="-122"/><a:cs typeface="ui-sans-serif" pitchFamily="34" charset="-120"/></a:rPr><a:t>.</a:t></a:r><a:endParaRPr lang="en-US" sz="1116" dirty="0"/></a:p></p:txBody></p:sp><p:sp><p:nvSpPr><p:cNvPr id="13" name="Text 11"></p:cNvPr><p:cNvSpPr/><p:nvPr></p:nvPr></p:nvSpPr><p:spPr><a:xfrm><a:off x="624780" y="930325"/><a:ext cx="1846362" cy="603200"/></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 Capital como fracción de activos: </a:t></a:r><a:pPr indent="0" marL="0"><a:lnSpc><a:spcPts val="1585"/></a:lnSpc><a:buNone/></a:pPr><a:r><a:rPr lang="en-US" sz="1116" b="1" dirty="0"><a:solidFill><a:srgbClr val="D7DEF5"/></a:solidFill><a:latin typeface="ui-sans-serif" pitchFamily="34" charset="0"/><a:ea typeface="ui-sans-serif" pitchFamily="34" charset="-122"/><a:cs typeface="ui-sans-serif" pitchFamily="34" charset="-120"/></a:rPr><a:t>4%</a:t></a:r><a:pPr indent="0" marL="0"><a:lnSpc><a:spcPts val="1585"/></a:lnSpc><a:buNone/></a:pPr><a:r><a:rPr lang="en-US" sz="1116" dirty="0"><a:solidFill><a:srgbClr val="D7DEF5"/></a:solidFill><a:latin typeface="ui-sans-serif" pitchFamily="34" charset="0"/><a:ea typeface="ui-sans-serif" pitchFamily="34" charset="-122"/><a:cs typeface="ui-sans-serif" pitchFamily="34" charset="-120"/></a:rPr><a:t>.</a:t></a:r><a:endParaRPr lang="en-US" sz="1116" dirty="0"/></a:p></p:txBody></p:sp><p:sp><p:nvSpPr><p:cNvPr id="14" name="Text 12"></p:cNvPr><p:cNvSpPr/><p:nvPr></p:nvPr></p:nvSpPr><p:spPr><a:xfrm><a:off x="2623542" y="930325"/><a:ext cx="1846511" cy="603200"/></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 Exposición interbancaria por banco: </a:t></a:r><a:pPr indent="0" marL="0"><a:lnSpc><a:spcPts val="1585"/></a:lnSpc><a:buNone/></a:pPr><a:r><a:rPr lang="en-US" sz="1116" b="1" dirty="0"><a:solidFill><a:srgbClr val="D7DEF5"/></a:solidFill><a:latin typeface="ui-sans-serif" pitchFamily="34" charset="0"/><a:ea typeface="ui-sans-serif" pitchFamily="34" charset="-122"/><a:cs typeface="ui-sans-serif" pitchFamily="34" charset="-120"/></a:rPr><a:t>20%</a:t></a:r><a:pPr indent="0" marL="0"><a:lnSpc><a:spcPts val="1585"/></a:lnSpc><a:buNone/></a:pPr><a:r><a:rPr lang="en-US" sz="1116" dirty="0"><a:solidFill><a:srgbClr val="D7DEF5"/></a:solidFill><a:latin typeface="ui-sans-serif" pitchFamily="34" charset="0"/><a:ea typeface="ui-sans-serif" pitchFamily="34" charset="-122"/><a:cs typeface="ui-sans-serif" pitchFamily="34" charset="-120"/></a:rPr><a:t> del activo.</a:t></a:r><a:endParaRPr lang="en-US" sz="1116" dirty="0"/></a:p></p:txBody></p:sp><p:sp><p:nvSpPr><p:cNvPr id="15" name="Text 13"></p:cNvPr><p:cNvSpPr/><p:nvPr></p:nvPr></p:nvSpPr><p:spPr><a:xfrm><a:off x="624780" y="1685925"/><a:ext cx="1846362" cy="603200"/></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 LGD sobre préstamo interbancario: </a:t></a:r><a:pPr indent="0" marL="0"><a:lnSpc><a:spcPts val="1585"/></a:lnSpc><a:buNone/></a:pPr><a:r><a:rPr lang="en-US" sz="1116" b="1" dirty="0"><a:solidFill><a:srgbClr val="D7DEF5"/></a:solidFill><a:latin typeface="ui-sans-serif" pitchFamily="34" charset="0"/><a:ea typeface="ui-sans-serif" pitchFamily="34" charset="-122"/><a:cs typeface="ui-sans-serif" pitchFamily="34" charset="-120"/></a:rPr><a:t>100%</a:t></a:r><a:pPr indent="0" marL="0"><a:lnSpc><a:spcPts val="1585"/></a:lnSpc><a:buNone/></a:pPr><a:r><a:rPr lang="en-US" sz="1116" dirty="0"><a:solidFill><a:srgbClr val="D7DEF5"/></a:solidFill><a:latin typeface="ui-sans-serif" pitchFamily="34" charset="0"/><a:ea typeface="ui-sans-serif" pitchFamily="34" charset="-122"/><a:cs typeface="ui-sans-serif" pitchFamily="34" charset="-120"/></a:rPr><a:t>.</a:t></a:r><a:endParaRPr lang="en-US" sz="1116" dirty="0"/></a:p></p:txBody></p:sp><p:sp><p:nvSpPr><p:cNvPr id="16" name="Text 14"></p:cNvPr><p:cNvSpPr/><p:nvPr></p:nvPr></p:nvSpPr><p:spPr><a:xfrm><a:off x="2623542" y="1685925"/><a:ext cx="1846511" cy="603200"/></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 Enlaces homogéneos para simplificar la intuición.</a:t></a:r><a:endParaRPr lang="en-US" sz="1116" dirty="0"/></a:p></p:txBody></p:sp><p:sp><p:nvSpPr><p:cNvPr id="17" name="Text 15"></p:cNvPr><p:cNvSpPr/><p:nvPr></p:nvPr></p:nvSpPr><p:spPr><a:xfrm><a:off x="624780" y="2814786"/><a:ext cx="3922178" cy="190500"/></a:xfrm><a:prstGeom prst="rect"><a:avLst></a:avLst></a:prstGeom><a:noFill/><a:ln></a:ln></p:spPr><p:txBody><a:bodyPr wrap="square" lIns="0" tIns="0" rIns="0" bIns="0" rtlCol="0" anchor="t"></a:bodyPr><a:lstStyle/><a:p><a:pPr indent="0" marL="0"><a:lnSpc><a:spcPts val="1500"/></a:lnSpc><a:buNone/></a:pPr><a:r><a:rPr lang="en-US" sz="1050" dirty="0"><a:solidFill><a:srgbClr val="A78BFA"/></a:solidFill><a:latin typeface="ui-sans-serif" pitchFamily="34" charset="0"/><a:ea typeface="ui-sans-serif" pitchFamily="34" charset="-122"/><a:cs typeface="ui-sans-serif" pitchFamily="34" charset="-120"/></a:rPr><a:t>Cálculo rápido</a:t></a:r><a:endParaRPr lang="en-US" sz="1050" dirty="0"/></a:p></p:txBody></p:sp><p:sp><p:nvSpPr><p:cNvPr id="18" name="Text 16"></p:cNvPr><p:cNvSpPr/><p:nvPr></p:nvPr></p:nvSpPr><p:spPr><a:xfrm><a:off x="815280" y="3138636"/><a:ext cx="3538835" cy="438596"/></a:xfrm><a:prstGeom prst="rect"><a:avLst></a:avLst></a:prstGeom><a:noFill/><a:ln></a:ln></p:spPr><p:txBody><a:bodyPr wrap="square" lIns="0" tIns="0" rIns="0" bIns="0" rtlCol="0" anchor="t"></a:bodyPr><a:lstStyle/><a:p><a:pPr indent="0" marL="0"><a:lnSpc><a:spcPts val="1879"/></a:lnSpc><a:buNone/></a:pPr><a:r><a:rPr lang="en-US" sz="1392" dirty="0"><a:solidFill><a:srgbClr val="F7FBFF"/></a:solidFill><a:latin typeface="Georgia" pitchFamily="34" charset="0"/><a:ea typeface="Georgia" pitchFamily="34" charset="-122"/><a:cs typeface="Georgia" pitchFamily="34" charset="-120"/></a:rPr><a:t>\(E[D] pprox (N-1)p = 99 imes0.04 = 3.96\)</a:t></a:r><a:endParaRPr lang="en-US" sz="1392" dirty="0"/></a:p></p:txBody></p:sp><p:sp><p:nvSpPr><p:cNvPr id="19" name="Text 17"></p:cNvPr><p:cNvSpPr/><p:nvPr></p:nvPr></p:nvSpPr><p:spPr><a:xfrm><a:off x="815280" y="3730079"/><a:ext cx="2862411" cy="438596"/></a:xfrm><a:prstGeom prst="rect"><a:avLst></a:avLst></a:prstGeom><a:noFill/><a:ln></a:ln></p:spPr><p:txBody><a:bodyPr wrap="square" lIns="0" tIns="0" rIns="0" bIns="0" rtlCol="0" anchor="t"></a:bodyPr><a:lstStyle/><a:p><a:pPr indent="0" marL="0"><a:lnSpc><a:spcPts val="1879"/></a:lnSpc><a:buNone/></a:pPr><a:r><a:rPr lang="en-US" sz="1392" dirty="0"><a:solidFill><a:srgbClr val="F7FBFF"/></a:solidFill><a:latin typeface="Georgia" pitchFamily="34" charset="0"/><a:ea typeface="Georgia" pitchFamily="34" charset="-122"/><a:cs typeface="Georgia" pitchFamily="34" charset="-120"/></a:rPr><a:t>\(w pprox 0.20/3.96 pprox 5.05\%\)</a:t></a:r><a:endParaRPr lang="en-US" sz="1392" dirty="0"/></a:p></p:txBody></p:sp><p:sp><p:nvSpPr><p:cNvPr id="20" name="Text 18"></p:cNvPr><p:cNvSpPr/><p:nvPr></p:nvPr></p:nvSpPr><p:spPr><a:xfrm><a:off x="1337370" y="4321522"/><a:ext cx="1028477" cy="200025"/></a:xfrm><a:prstGeom prst="rect"><a:avLst></a:avLst></a:prstGeom><a:noFill/><a:ln></a:ln></p:spPr><p:txBody><a:bodyPr wrap="square" lIns="0" tIns="0" rIns="0" bIns="0" rtlCol="0" anchor="t"></a:bodyPr><a:lstStyle/><a:p><a:pPr indent="0" marL="0"><a:lnSpc><a:spcPts val="1879"/></a:lnSpc><a:buNone/></a:pPr><a:r><a:rPr lang="en-US" sz="1392" dirty="0"><a:solidFill><a:srgbClr val="F7FBFF"/></a:solidFill><a:latin typeface="Georgia" pitchFamily="34" charset="0"/><a:ea typeface="Georgia" pitchFamily="34" charset="-122"/><a:cs typeface="Georgia" pitchFamily="34" charset="-120"/></a:rPr><a:t>\(w &gt; 4\%\)</a:t></a:r><a:endParaRPr lang="en-US" sz="1392" dirty="0"/></a:p></p:txBody></p:sp><p:sp><p:nvSpPr><p:cNvPr id="21" name="Text 19"></p:cNvPr><p:cNvSpPr/><p:nvPr></p:nvPr></p:nvSpPr><p:spPr><a:xfrm><a:off x="624780" y="5091113"/><a:ext cx="3845272" cy="804267"/></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Bajo este supuesto homogéneo, el banco medio sería </a:t></a:r><a:pPr indent="0" marL="0"><a:lnSpc><a:spcPts val="1585"/></a:lnSpc><a:buNone/></a:pPr><a:r><a:rPr lang="en-US" sz="1116" i="1" dirty="0"><a:solidFill><a:srgbClr val="D7DEF5"/></a:solidFill><a:latin typeface="ui-sans-serif" pitchFamily="34" charset="0"/><a:ea typeface="ui-sans-serif" pitchFamily="34" charset="-122"/><a:cs typeface="ui-sans-serif" pitchFamily="34" charset="-120"/></a:rPr><a:t>vulnerable</a:t></a:r><a:pPr indent="0" marL="0"><a:lnSpc><a:spcPts val="1585"/></a:lnSpc><a:buNone/></a:pPr><a:r><a:rPr lang="en-US" sz="1116" dirty="0"><a:solidFill><a:srgbClr val="D7DEF5"/></a:solidFill><a:latin typeface="ui-sans-serif" pitchFamily="34" charset="0"/><a:ea typeface="ui-sans-serif" pitchFamily="34" charset="-122"/><a:cs typeface="ui-sans-serif" pitchFamily="34" charset="-120"/></a:rPr><a:t> a un único default vecino. Eso coloca al sistema cerca de la región donde una perturbación idiosincrática puede amplificarse.</a:t></a:r><a:endParaRPr lang="en-US" sz="1116" dirty="0"/></a:p></p:txBody></p:sp><p:sp><p:nvSpPr><p:cNvPr id="22" name="Text 20"></p:cNvPr><p:cNvSpPr/><p:nvPr></p:nvPr></p:nvSpPr><p:spPr><a:xfrm><a:off x="5071914" y="70991"/><a:ext cx="3516252" cy="190500"/></a:xfrm><a:prstGeom prst="rect"><a:avLst></a:avLst></a:prstGeom><a:noFill/><a:ln></a:ln></p:spPr><p:txBody><a:bodyPr wrap="square" lIns="0" tIns="0" rIns="0" bIns="0" rtlCol="0" anchor="t"></a:bodyPr><a:lstStyle/><a:p><a:pPr indent="0" marL="0"><a:lnSpc><a:spcPts val="1500"/></a:lnSpc><a:buNone/></a:pPr><a:r><a:rPr lang="en-US" sz="1050" dirty="0"><a:solidFill><a:srgbClr val="7C3AED"/></a:solidFill><a:latin typeface="ui-sans-serif" pitchFamily="34" charset="0"/><a:ea typeface="ui-sans-serif" pitchFamily="34" charset="-122"/><a:cs typeface="ui-sans-serif" pitchFamily="34" charset="-120"/></a:rPr><a:t>Lectura económica</a:t></a:r><a:endParaRPr lang="en-US" sz="1050" dirty="0"/></a:p></p:txBody></p:sp><p:sp><p:nvSpPr><p:cNvPr id="23" name="Text 21"></p:cNvPr><p:cNvSpPr/><p:nvPr></p:nvPr></p:nvSpPr><p:spPr><a:xfrm><a:off x="5071914" y="375791"/><a:ext cx="3447306" cy="402134"/></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Con </a:t></a:r><a:pPr indent="0" marL="0"><a:lnSpc><a:spcPts val="1585"/></a:lnSpc><a:buNone/></a:pPr><a:r><a:rPr lang="en-US" sz="1116" b="1" dirty="0"><a:solidFill><a:srgbClr val="D7DEF5"/></a:solidFill><a:latin typeface="ui-sans-serif" pitchFamily="34" charset="0"/><a:ea typeface="ui-sans-serif" pitchFamily="34" charset="-122"/><a:cs typeface="ui-sans-serif" pitchFamily="34" charset="-120"/></a:rPr><a:t>p = 0.04</a:t></a:r><a:pPr indent="0" marL="0"><a:lnSpc><a:spcPts val="1585"/></a:lnSpc><a:buNone/></a:pPr><a:r><a:rPr lang="en-US" sz="1116" dirty="0"><a:solidFill><a:srgbClr val="D7DEF5"/></a:solidFill><a:latin typeface="ui-sans-serif" pitchFamily="34" charset="0"/><a:ea typeface="ui-sans-serif" pitchFamily="34" charset="-122"/><a:cs typeface="ui-sans-serif" pitchFamily="34" charset="-120"/></a:rPr><a:t>, cada banco espera cerca de 4 contrapartes.</a:t></a:r><a:endParaRPr lang="en-US" sz="1116" dirty="0"/></a:p></p:txBody></p:sp><p:sp><p:nvSpPr><p:cNvPr id="24" name="Text 22"></p:cNvPr><p:cNvSpPr/><p:nvPr></p:nvPr></p:nvSpPr><p:spPr><a:xfrm><a:off x="5071914" y="892225"/><a:ext cx="3447306" cy="603200"/></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Si el 20% del activo está en mercado interbancario, cada vínculo carga aproximadamente un 5% del balance.</a:t></a:r><a:endParaRPr lang="en-US" sz="1116" dirty="0"/></a:p></p:txBody></p:sp><p:sp><p:nvSpPr><p:cNvPr id="25" name="Text 23"></p:cNvPr><p:cNvSpPr/><p:nvPr></p:nvPr></p:nvSpPr><p:spPr><a:xfrm><a:off x="5071914" y="1609725"/><a:ext cx="3447306" cy="402134"/></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Con capital del 4%, una pérdida total en un solo vínculo basta para absorber el colchón.</a:t></a:r><a:endParaRPr lang="en-US" sz="1116" dirty="0"/></a:p></p:txBody></p:sp><p:sp><p:nvSpPr><p:cNvPr id="26" name="Text 24"></p:cNvPr><p:cNvSpPr/><p:nvPr></p:nvPr></p:nvSpPr><p:spPr><a:xfrm><a:off x="5071914" y="2537520"/><a:ext cx="2129061" cy="201067"/></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Pérdida por un default vecino</a:t></a:r><a:endParaRPr lang="en-US" sz="1116" dirty="0"/></a:p></p:txBody></p:sp><p:sp><p:nvSpPr><p:cNvPr id="27" name="Text 25"></p:cNvPr><p:cNvSpPr/><p:nvPr></p:nvPr></p:nvSpPr><p:spPr><a:xfrm><a:off x="8069014" y="2537520"/><a:ext cx="459209" cy="201067"/></a:xfrm><a:prstGeom prst="rect"><a:avLst></a:avLst></a:prstGeom><a:noFill/><a:ln></a:ln></p:spPr><p:txBody><a:bodyPr wrap="square" lIns="0" tIns="0" rIns="0" bIns="0" rtlCol="0" anchor="t"></a:bodyPr><a:lstStyle/><a:p><a:pPr indent="0" marL="0"><a:lnSpc><a:spcPts val="1585"/></a:lnSpc><a:buNone/></a:pPr><a:r><a:rPr lang="en-US" sz="1116" dirty="0"><a:solidFill><a:srgbClr val="06B6D4"/></a:solidFill><a:latin typeface="ui-sans-serif" pitchFamily="34" charset="0"/><a:ea typeface="ui-sans-serif" pitchFamily="34" charset="-122"/><a:cs typeface="ui-sans-serif" pitchFamily="34" charset="-120"/></a:rPr><a:t>5.05%</a:t></a:r><a:endParaRPr lang="en-US" sz="1116" dirty="0"/></a:p></p:txBody></p:sp><p:sp><p:nvSpPr><p:cNvPr id="28" name="Text 26"></p:cNvPr><p:cNvSpPr/><p:nvPr></p:nvPr></p:nvSpPr><p:spPr><a:xfrm><a:off x="5071914" y="3119586"/><a:ext cx="1292617" cy="201067"/></a:xfrm><a:prstGeom prst="rect"><a:avLst></a:avLst></a:prstGeom><a:noFill/><a:ln></a:ln></p:spPr><p:txBody><a:bodyPr wrap="square" lIns="0" tIns="0" rIns="0" bIns="0" rtlCol="0" anchor="t"></a:bodyPr><a:lstStyle/><a:p><a:pPr indent="0" marL="0"><a:lnSpc><a:spcPts val="1585"/></a:lnSpc><a:buNone/></a:pPr><a:r><a:rPr lang="en-US" sz="1116" dirty="0"><a:solidFill><a:srgbClr val="D7DEF5"/></a:solidFill><a:latin typeface="ui-sans-serif" pitchFamily="34" charset="0"/><a:ea typeface="ui-sans-serif" pitchFamily="34" charset="-122"/><a:cs typeface="ui-sans-serif" pitchFamily="34" charset="-120"/></a:rPr><a:t>Capital disponible</a:t></a:r><a:endParaRPr lang="en-US" sz="1116" dirty="0"/></a:p></p:txBody></p:sp><p:sp><p:nvSpPr><p:cNvPr id="29" name="Text 27"></p:cNvPr><p:cNvSpPr/><p:nvPr></p:nvPr></p:nvSpPr><p:spPr><a:xfrm><a:off x="8069014" y="3119586"/><a:ext cx="459209" cy="201067"/></a:xfrm><a:prstGeom prst="rect"><a:avLst></a:avLst></a:prstGeom><a:noFill/><a:ln></a:ln></p:spPr><p:txBody><a:bodyPr wrap="square" lIns="0" tIns="0" rIns="0" bIns="0" rtlCol="0" anchor="t"></a:bodyPr><a:lstStyle/><a:p><a:pPr indent="0" marL="0"><a:lnSpc><a:spcPts val="1585"/></a:lnSpc><a:buNone/></a:pPr><a:r><a:rPr lang="en-US" sz="1116" dirty="0"><a:solidFill><a:srgbClr val="A78BFA"/></a:solidFill><a:latin typeface="ui-sans-serif" pitchFamily="34" charset="0"/><a:ea typeface="ui-sans-serif" pitchFamily="34" charset="-122"/><a:cs typeface="ui-sans-serif" pitchFamily="34" charset="-120"/></a:rPr><a:t>4.00%</a:t></a:r><a:endParaRPr lang="en-US" sz="1116" dirty="0"/></a:p></p:txBody></p:sp><p:sp><p:nvSpPr><p:cNvPr id="30" name="Text 28"></p:cNvPr><p:cNvSpPr/><p:nvPr></p:nvPr></p:nvSpPr><p:spPr><a:xfrm><a:off x="5071914" y="4074914"/><a:ext cx="3516252" cy="190500"/></a:xfrm><a:prstGeom prst="rect"><a:avLst></a:avLst></a:prstGeom><a:noFill/><a:ln></a:ln></p:spPr><p:txBody><a:bodyPr wrap="square" lIns="0" tIns="0" rIns="0" bIns="0" rtlCol="0" anchor="t"></a:bodyPr><a:lstStyle/><a:p><a:pPr indent="0" marL="0"><a:lnSpc><a:spcPts val="1500"/></a:lnSpc><a:buNone/></a:pPr><a:r><a:rPr lang="en-US" sz="1050" dirty="0"><a:solidFill><a:srgbClr val="06B6D4"/></a:solidFill><a:latin typeface="ui-sans-serif" pitchFamily="34" charset="0"/><a:ea typeface="ui-sans-serif" pitchFamily="34" charset="-122"/><a:cs typeface="ui-sans-serif" pitchFamily="34" charset="-120"/></a:rPr><a:t>Frase para presentar</a:t></a:r><a:endParaRPr lang="en-US" sz="1050" dirty="0"/></a:p></p:txBody></p:sp><p:sp><p:nvSpPr><p:cNvPr id="31" name="Text 29"></p:cNvPr><p:cNvSpPr/><p:nvPr></p:nvPr></p:nvSpPr><p:spPr><a:xfrm><a:off x="5071914" y="4379714"/><a:ext cx="3447306" cy="1294805"/></a:xfrm><a:prstGeom prst="rect"><a:avLst></a:avLst></a:prstGeom><a:noFill/><a:ln></a:ln></p:spPr><p:txBody><a:bodyPr wrap="square" lIns="0" tIns="0" rIns="0" bIns="0" rtlCol="0" anchor="t"></a:bodyPr><a:lstStyle/><a:p><a:pPr indent="0" marL="0"><a:lnSpc><a:spcPts val="1700"/></a:lnSpc><a:buNone/></a:pPr><a:r><a:rPr lang="en-US" sz="1236" dirty="0"><a:solidFill><a:srgbClr val="D7DEF5"/></a:solidFill><a:latin typeface="ui-sans-serif" pitchFamily="34" charset="0"/><a:ea typeface="ui-sans-serif" pitchFamily="34" charset="-122"/><a:cs typeface="ui-sans-serif" pitchFamily="34" charset="-120"/></a:rPr><a:t>“Si la conectividad esperada es de 4 enlaces por banco y la cartera interbancaria equivale al 20% del activo, entonces cada contraparte pesa alrededor del 5%; con capital del 4%, un solo impago puede activar la cascada.”</a:t></a:r><a:endParaRPr lang="en-US" sz="1236" dirty="0"/></a:p></p:txBody></p:sp></p:spTree></p:cSld><p:clrMapOvr><a:masterClrMapping/></p:clrMapOvr></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457200" y="-243632"/>
            <a:ext cx="4299942" cy="2601962"/>
          </a:xfrm>
          <a:prstGeom prst="roundRect">
            <a:avLst>
              <a:gd name="adj" fmla="val 77314"/>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3" name="Text 1"/>
          <p:cNvSpPr/>
          <p:nvPr/>
        </p:nvSpPr>
        <p:spPr>
          <a:xfrm>
            <a:off x="457200" y="2548830"/>
            <a:ext cx="4299942" cy="2879229"/>
          </a:xfrm>
          <a:prstGeom prst="roundRect">
            <a:avLst>
              <a:gd name="adj" fmla="val 69869"/>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4" name="Text 2"/>
          <p:cNvSpPr/>
          <p:nvPr/>
        </p:nvSpPr>
        <p:spPr>
          <a:xfrm>
            <a:off x="5023842" y="-243632"/>
            <a:ext cx="3662958" cy="2563862"/>
          </a:xfrm>
          <a:prstGeom prst="roundRect">
            <a:avLst>
              <a:gd name="adj" fmla="val 78463"/>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5" name="Text 3"/>
          <p:cNvSpPr/>
          <p:nvPr/>
        </p:nvSpPr>
        <p:spPr>
          <a:xfrm>
            <a:off x="5023842" y="2510730"/>
            <a:ext cx="3662958" cy="1346895"/>
          </a:xfrm>
          <a:prstGeom prst="roundRect">
            <a:avLst>
              <a:gd name="adj" fmla="val 149357"/>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6" name="Text 4"/>
          <p:cNvSpPr/>
          <p:nvPr/>
        </p:nvSpPr>
        <p:spPr>
          <a:xfrm>
            <a:off x="5191423" y="2955578"/>
            <a:ext cx="3327797" cy="152400"/>
          </a:xfrm>
          <a:prstGeom prst="roundRect">
            <a:avLst>
              <a:gd name="adj" fmla="val 5994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7" name="Text 5"/>
          <p:cNvSpPr/>
          <p:nvPr/>
        </p:nvSpPr>
        <p:spPr>
          <a:xfrm>
            <a:off x="5191423" y="3537645"/>
            <a:ext cx="3327797" cy="152400"/>
          </a:xfrm>
          <a:prstGeom prst="roundRect">
            <a:avLst>
              <a:gd name="adj" fmla="val 5994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8" name="Text 6"/>
          <p:cNvSpPr/>
          <p:nvPr/>
        </p:nvSpPr>
        <p:spPr>
          <a:xfrm>
            <a:off x="5023842" y="4048125"/>
            <a:ext cx="3662958" cy="2150566"/>
          </a:xfrm>
          <a:prstGeom prst="roundRect">
            <a:avLst>
              <a:gd name="adj" fmla="val 93542"/>
            </a:avLst>
          </a:prstGeom>
          <a:solidFill>
            <a:srgbClr val="1A1A2E">
              <a:alpha val="80000"/>
            </a:srgbClr>
          </a:solidFill>
          <a:ln w="6350">
            <a:solidFill>
              <a:srgbClr val="FFFFFF"/>
            </a:solidFill>
          </a:ln>
          <a:effectLst>
            <a:outerShdw sx="100000" sy="100000" kx="0" ky="0" algn="bl" rotWithShape="0" blurRad="381000" dist="133350" dir="5400000">
              <a:srgbClr val="000000">
                <a:alpha val="18000"/>
              </a:srgbClr>
            </a:outerShdw>
          </a:effectLst>
        </p:spPr>
        <p:txBody>
          <a:bodyPr wrap="none" lIns="0" tIns="0" rIns="0" bIns="0" rtlCol="0" anchor="ctr">
            <a:normAutofit/>
          </a:bodyPr>
          <a:lstStyle/>
          <a:p>
            <a:pPr indent="0" marL="0">
              <a:buNone/>
            </a:pPr>
            <a:endParaRPr lang="en-US" dirty="0"/>
          </a:p>
        </p:txBody>
      </p:sp>
      <p:sp>
        <p:nvSpPr>
          <p:cNvPr id="9" name="Text 7"/>
          <p:cNvSpPr/>
          <p:nvPr/>
        </p:nvSpPr>
        <p:spPr>
          <a:xfrm>
            <a:off x="457200" y="-1055043"/>
            <a:ext cx="8394192" cy="697111"/>
          </a:xfrm>
          <a:prstGeom prst="rect">
            <a:avLst/>
          </a:prstGeom>
          <a:noFill/>
          <a:ln/>
        </p:spPr>
        <p:txBody>
          <a:bodyPr wrap="square" lIns="0" tIns="0" rIns="0" bIns="0" rtlCol="0" anchor="t"/>
          <a:lstStyle/>
          <a:p>
            <a:pPr indent="0" marL="0">
              <a:lnSpc>
                <a:spcPts val="5490"/>
              </a:lnSpc>
              <a:buNone/>
            </a:pPr>
            <a:r>
              <a:rPr lang="en-US" sz="3660" dirty="0">
                <a:solidFill>
                  <a:srgbClr val="F5F7FF"/>
                </a:solidFill>
                <a:latin typeface="Instrument Serif" pitchFamily="34" charset="0"/>
                <a:ea typeface="Instrument Serif" pitchFamily="34" charset="-122"/>
                <a:cs typeface="Instrument Serif" pitchFamily="34" charset="-120"/>
              </a:rPr>
              <a:t>Small-world vs scale-free</a:t>
            </a:r>
            <a:endParaRPr lang="en-US" sz="3660" dirty="0"/>
          </a:p>
        </p:txBody>
      </p:sp>
      <p:sp>
        <p:nvSpPr>
          <p:cNvPr id="10" name="Text 8"/>
          <p:cNvSpPr/>
          <p:nvPr/>
        </p:nvSpPr>
        <p:spPr>
          <a:xfrm>
            <a:off x="624780" y="-76051"/>
            <a:ext cx="4044077" cy="190500"/>
          </a:xfrm>
          <a:prstGeom prst="rect">
            <a:avLst/>
          </a:prstGeom>
          <a:noFill/>
          <a:ln/>
        </p:spPr>
        <p:txBody>
          <a:bodyPr wrap="square" lIns="0" tIns="0" rIns="0" bIns="0" rtlCol="0" anchor="t"/>
          <a:lstStyle/>
          <a:p>
            <a:pPr indent="0" marL="0">
              <a:lnSpc>
                <a:spcPts val="1500"/>
              </a:lnSpc>
              <a:buNone/>
            </a:pPr>
            <a:r>
              <a:rPr lang="en-US" sz="1050" dirty="0">
                <a:solidFill>
                  <a:srgbClr val="06B6D4"/>
                </a:solidFill>
                <a:latin typeface="ui-sans-serif" pitchFamily="34" charset="0"/>
                <a:ea typeface="ui-sans-serif" pitchFamily="34" charset="-122"/>
                <a:cs typeface="ui-sans-serif" pitchFamily="34" charset="-120"/>
              </a:rPr>
              <a:t>Diferencia estructural</a:t>
            </a:r>
            <a:endParaRPr lang="en-US" sz="1050" dirty="0"/>
          </a:p>
        </p:txBody>
      </p:sp>
      <p:sp>
        <p:nvSpPr>
          <p:cNvPr id="11" name="Text 9"/>
          <p:cNvSpPr/>
          <p:nvPr/>
        </p:nvSpPr>
        <p:spPr>
          <a:xfrm>
            <a:off x="624780" y="228749"/>
            <a:ext cx="1906191" cy="1005334"/>
          </a:xfrm>
          <a:prstGeom prst="rect">
            <a:avLst/>
          </a:prstGeom>
          <a:noFill/>
          <a:ln/>
        </p:spPr>
        <p:txBody>
          <a:bodyPr wrap="square" lIns="0" tIns="0" rIns="0" bIns="0" rtlCol="0" anchor="t"/>
          <a:lstStyle/>
          <a:p>
            <a:pPr indent="0" marL="0">
              <a:lnSpc>
                <a:spcPts val="1585"/>
              </a:lnSpc>
              <a:buNone/>
            </a:pPr>
            <a:r>
              <a:rPr lang="en-US" sz="1116" b="1" dirty="0">
                <a:solidFill>
                  <a:srgbClr val="D7DEF5"/>
                </a:solidFill>
                <a:latin typeface="ui-sans-serif" pitchFamily="34" charset="0"/>
                <a:ea typeface="ui-sans-serif" pitchFamily="34" charset="-122"/>
                <a:cs typeface="ui-sans-serif" pitchFamily="34" charset="-120"/>
              </a:rPr>
              <a:t>Small-world</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distancia media corta y clustering alto; los grados suelen ser más homogéneos.</a:t>
            </a:r>
            <a:endParaRPr lang="en-US" sz="1116" dirty="0"/>
          </a:p>
        </p:txBody>
      </p:sp>
      <p:sp>
        <p:nvSpPr>
          <p:cNvPr id="12" name="Text 10"/>
          <p:cNvSpPr/>
          <p:nvPr/>
        </p:nvSpPr>
        <p:spPr>
          <a:xfrm>
            <a:off x="2683371" y="228749"/>
            <a:ext cx="1906191" cy="1005334"/>
          </a:xfrm>
          <a:prstGeom prst="rect">
            <a:avLst/>
          </a:prstGeom>
          <a:noFill/>
          <a:ln/>
        </p:spPr>
        <p:txBody>
          <a:bodyPr wrap="square" lIns="0" tIns="0" rIns="0" bIns="0" rtlCol="0" anchor="t"/>
          <a:lstStyle/>
          <a:p>
            <a:pPr indent="0" marL="0">
              <a:lnSpc>
                <a:spcPts val="1585"/>
              </a:lnSpc>
              <a:buNone/>
            </a:pPr>
            <a:r>
              <a:rPr lang="en-US" sz="1116" b="1" dirty="0">
                <a:solidFill>
                  <a:srgbClr val="D7DEF5"/>
                </a:solidFill>
                <a:latin typeface="ui-sans-serif" pitchFamily="34" charset="0"/>
                <a:ea typeface="ui-sans-serif" pitchFamily="34" charset="-122"/>
                <a:cs typeface="ui-sans-serif" pitchFamily="34" charset="-120"/>
              </a:rPr>
              <a:t>Scale-free</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también puede tener distancias cortas, pero la firma clave es la heterogeneidad extrema con hubs.</a:t>
            </a:r>
            <a:endParaRPr lang="en-US" sz="1116" dirty="0"/>
          </a:p>
        </p:txBody>
      </p:sp>
      <p:sp>
        <p:nvSpPr>
          <p:cNvPr id="13" name="Text 11"/>
          <p:cNvSpPr/>
          <p:nvPr/>
        </p:nvSpPr>
        <p:spPr>
          <a:xfrm>
            <a:off x="624780" y="1386483"/>
            <a:ext cx="1906191" cy="8042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Predominan triángulos y vecindarios densos.</a:t>
            </a:r>
            <a:endParaRPr lang="en-US" sz="1116" dirty="0"/>
          </a:p>
        </p:txBody>
      </p:sp>
      <p:sp>
        <p:nvSpPr>
          <p:cNvPr id="14" name="Text 12"/>
          <p:cNvSpPr/>
          <p:nvPr/>
        </p:nvSpPr>
        <p:spPr>
          <a:xfrm>
            <a:off x="2683371" y="1386483"/>
            <a:ext cx="1906191" cy="8042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Predominan unos pocos money centers muy conectados y muchos nodos periféricos.</a:t>
            </a:r>
            <a:endParaRPr lang="en-US" sz="1116" dirty="0"/>
          </a:p>
        </p:txBody>
      </p:sp>
      <p:sp>
        <p:nvSpPr>
          <p:cNvPr id="15" name="Text 13"/>
          <p:cNvSpPr/>
          <p:nvPr/>
        </p:nvSpPr>
        <p:spPr>
          <a:xfrm>
            <a:off x="624780" y="2716411"/>
            <a:ext cx="4044077" cy="190500"/>
          </a:xfrm>
          <a:prstGeom prst="rect">
            <a:avLst/>
          </a:prstGeom>
          <a:noFill/>
          <a:ln/>
        </p:spPr>
        <p:txBody>
          <a:bodyPr wrap="square" lIns="0" tIns="0" rIns="0" bIns="0" rtlCol="0" anchor="t"/>
          <a:lstStyle/>
          <a:p>
            <a:pPr indent="0" marL="0">
              <a:lnSpc>
                <a:spcPts val="1500"/>
              </a:lnSpc>
              <a:buNone/>
            </a:pPr>
            <a:r>
              <a:rPr lang="en-US" sz="1050" dirty="0">
                <a:solidFill>
                  <a:srgbClr val="A78BFA"/>
                </a:solidFill>
                <a:latin typeface="ui-sans-serif" pitchFamily="34" charset="0"/>
                <a:ea typeface="ui-sans-serif" pitchFamily="34" charset="-122"/>
                <a:cs typeface="ui-sans-serif" pitchFamily="34" charset="-120"/>
              </a:rPr>
              <a:t>Lectura para contagio interbancario</a:t>
            </a:r>
            <a:endParaRPr lang="en-US" sz="1050" dirty="0"/>
          </a:p>
        </p:txBody>
      </p:sp>
      <p:sp>
        <p:nvSpPr>
          <p:cNvPr id="16" name="Text 14"/>
          <p:cNvSpPr/>
          <p:nvPr/>
        </p:nvSpPr>
        <p:spPr>
          <a:xfrm>
            <a:off x="624780" y="3021211"/>
            <a:ext cx="3964781" cy="603200"/>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En redes small-world, el clustering alto crea circuitos locales de propagación, pero sin hubs tan dominantes.</a:t>
            </a:r>
            <a:endParaRPr lang="en-US" sz="1116" dirty="0"/>
          </a:p>
        </p:txBody>
      </p:sp>
      <p:sp>
        <p:nvSpPr>
          <p:cNvPr id="17" name="Text 15"/>
          <p:cNvSpPr/>
          <p:nvPr/>
        </p:nvSpPr>
        <p:spPr>
          <a:xfrm>
            <a:off x="624780" y="3738711"/>
            <a:ext cx="3964781" cy="603200"/>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En redes scale-free, los hubs mejoran liquidez y acceso, pero concentran exposición sistémica: si uno cae, el impacto puede ser desproporcionado.</a:t>
            </a:r>
            <a:endParaRPr lang="en-US" sz="1116" dirty="0"/>
          </a:p>
        </p:txBody>
      </p:sp>
      <p:sp>
        <p:nvSpPr>
          <p:cNvPr id="18" name="Text 16"/>
          <p:cNvSpPr/>
          <p:nvPr/>
        </p:nvSpPr>
        <p:spPr>
          <a:xfrm>
            <a:off x="624780" y="4456212"/>
            <a:ext cx="3964781" cy="8042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Empíricamente, muchas redes interbancarias reales muestran rasgos de core-periphery o degree distribution tipo scale-free, no de red aleatoria homogénea.</a:t>
            </a:r>
            <a:endParaRPr lang="en-US" sz="1116" dirty="0"/>
          </a:p>
        </p:txBody>
      </p:sp>
      <p:sp>
        <p:nvSpPr>
          <p:cNvPr id="19" name="Text 17"/>
          <p:cNvSpPr/>
          <p:nvPr/>
        </p:nvSpPr>
        <p:spPr>
          <a:xfrm>
            <a:off x="5191423" y="-76051"/>
            <a:ext cx="3394353" cy="190500"/>
          </a:xfrm>
          <a:prstGeom prst="rect">
            <a:avLst/>
          </a:prstGeom>
          <a:noFill/>
          <a:ln/>
        </p:spPr>
        <p:txBody>
          <a:bodyPr wrap="square" lIns="0" tIns="0" rIns="0" bIns="0" rtlCol="0" anchor="t"/>
          <a:lstStyle/>
          <a:p>
            <a:pPr indent="0" marL="0">
              <a:lnSpc>
                <a:spcPts val="1500"/>
              </a:lnSpc>
              <a:buNone/>
            </a:pPr>
            <a:r>
              <a:rPr lang="en-US" sz="1050" dirty="0">
                <a:solidFill>
                  <a:srgbClr val="7C3AED"/>
                </a:solidFill>
                <a:latin typeface="ui-sans-serif" pitchFamily="34" charset="0"/>
                <a:ea typeface="ui-sans-serif" pitchFamily="34" charset="-122"/>
                <a:cs typeface="ui-sans-serif" pitchFamily="34" charset="-120"/>
              </a:rPr>
              <a:t>Resultado útil para una slide</a:t>
            </a:r>
            <a:endParaRPr lang="en-US" sz="1050" dirty="0"/>
          </a:p>
        </p:txBody>
      </p:sp>
      <p:sp>
        <p:nvSpPr>
          <p:cNvPr id="20" name="Text 18"/>
          <p:cNvSpPr/>
          <p:nvPr/>
        </p:nvSpPr>
        <p:spPr>
          <a:xfrm>
            <a:off x="5191423" y="228749"/>
            <a:ext cx="3327797" cy="1005334"/>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En un modelo dinámico comparando topologías, Georg encuentra que las redes </a:t>
            </a:r>
            <a:pPr indent="0" marL="0">
              <a:lnSpc>
                <a:spcPts val="1585"/>
              </a:lnSpc>
              <a:buNone/>
            </a:pPr>
            <a:r>
              <a:rPr lang="en-US" sz="1116" b="1" dirty="0">
                <a:solidFill>
                  <a:srgbClr val="D7DEF5"/>
                </a:solidFill>
                <a:latin typeface="ui-sans-serif" pitchFamily="34" charset="0"/>
                <a:ea typeface="ui-sans-serif" pitchFamily="34" charset="-122"/>
                <a:cs typeface="ui-sans-serif" pitchFamily="34" charset="-120"/>
              </a:rPr>
              <a:t>scale-free</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son más estables que las </a:t>
            </a:r>
            <a:pPr indent="0" marL="0">
              <a:lnSpc>
                <a:spcPts val="1585"/>
              </a:lnSpc>
              <a:buNone/>
            </a:pPr>
            <a:r>
              <a:rPr lang="en-US" sz="1116" b="1" dirty="0">
                <a:solidFill>
                  <a:srgbClr val="D7DEF5"/>
                </a:solidFill>
                <a:latin typeface="ui-sans-serif" pitchFamily="34" charset="0"/>
                <a:ea typeface="ui-sans-serif" pitchFamily="34" charset="-122"/>
                <a:cs typeface="ui-sans-serif" pitchFamily="34" charset="-120"/>
              </a:rPr>
              <a:t>small-world</a:t>
            </a:r>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 y estas más estables que las aleatorias.</a:t>
            </a:r>
            <a:endParaRPr lang="en-US" sz="1116" dirty="0"/>
          </a:p>
        </p:txBody>
      </p:sp>
      <p:sp>
        <p:nvSpPr>
          <p:cNvPr id="21" name="Text 19"/>
          <p:cNvSpPr/>
          <p:nvPr/>
        </p:nvSpPr>
        <p:spPr>
          <a:xfrm>
            <a:off x="5191423" y="1348383"/>
            <a:ext cx="3327797" cy="8042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El paper del Fedwire muestra además que la red de pagos interbancarios es compacta, con fenómeno small-world, pero con distribución de grados scale-free en un rango amplio.</a:t>
            </a:r>
            <a:endParaRPr lang="en-US" sz="1116" dirty="0"/>
          </a:p>
        </p:txBody>
      </p:sp>
      <p:sp>
        <p:nvSpPr>
          <p:cNvPr id="22" name="Text 20"/>
          <p:cNvSpPr/>
          <p:nvPr/>
        </p:nvSpPr>
        <p:spPr>
          <a:xfrm>
            <a:off x="5191423" y="2678311"/>
            <a:ext cx="1853687"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Heterogeneidad de grado</a:t>
            </a:r>
            <a:endParaRPr lang="en-US" sz="1116" dirty="0"/>
          </a:p>
        </p:txBody>
      </p:sp>
      <p:sp>
        <p:nvSpPr>
          <p:cNvPr id="23" name="Text 21"/>
          <p:cNvSpPr/>
          <p:nvPr/>
        </p:nvSpPr>
        <p:spPr>
          <a:xfrm>
            <a:off x="7118747" y="2678311"/>
            <a:ext cx="1428482" cy="201067"/>
          </a:xfrm>
          <a:prstGeom prst="rect">
            <a:avLst/>
          </a:prstGeom>
          <a:noFill/>
          <a:ln/>
        </p:spPr>
        <p:txBody>
          <a:bodyPr wrap="square" lIns="0" tIns="0" rIns="0" bIns="0" rtlCol="0" anchor="t"/>
          <a:lstStyle/>
          <a:p>
            <a:pPr indent="0" marL="0">
              <a:lnSpc>
                <a:spcPts val="1585"/>
              </a:lnSpc>
              <a:buNone/>
            </a:pPr>
            <a:r>
              <a:rPr lang="en-US" sz="1116" dirty="0">
                <a:solidFill>
                  <a:srgbClr val="7C3AED"/>
                </a:solidFill>
                <a:latin typeface="ui-sans-serif" pitchFamily="34" charset="0"/>
                <a:ea typeface="ui-sans-serif" pitchFamily="34" charset="-122"/>
                <a:cs typeface="ui-sans-serif" pitchFamily="34" charset="-120"/>
              </a:rPr>
              <a:t>Mayor en scale-free</a:t>
            </a:r>
            <a:endParaRPr lang="en-US" sz="1116" dirty="0"/>
          </a:p>
        </p:txBody>
      </p:sp>
      <p:sp>
        <p:nvSpPr>
          <p:cNvPr id="24" name="Text 22"/>
          <p:cNvSpPr/>
          <p:nvPr/>
        </p:nvSpPr>
        <p:spPr>
          <a:xfrm>
            <a:off x="5191423" y="3260378"/>
            <a:ext cx="1119104" cy="201067"/>
          </a:xfrm>
          <a:prstGeom prst="rect">
            <a:avLst/>
          </a:prstGeom>
          <a:noFill/>
          <a:ln/>
        </p:spPr>
        <p:txBody>
          <a:bodyPr wrap="square" lIns="0" tIns="0" rIns="0" bIns="0" rtlCol="0" anchor="t"/>
          <a:lstStyle/>
          <a:p>
            <a:pPr indent="0" marL="0">
              <a:lnSpc>
                <a:spcPts val="1585"/>
              </a:lnSpc>
              <a:buNone/>
            </a:pPr>
            <a:r>
              <a:rPr lang="en-US" sz="1116" dirty="0">
                <a:solidFill>
                  <a:srgbClr val="D7DEF5"/>
                </a:solidFill>
                <a:latin typeface="ui-sans-serif" pitchFamily="34" charset="0"/>
                <a:ea typeface="ui-sans-serif" pitchFamily="34" charset="-122"/>
                <a:cs typeface="ui-sans-serif" pitchFamily="34" charset="-120"/>
              </a:rPr>
              <a:t>Clustering local</a:t>
            </a:r>
            <a:endParaRPr lang="en-US" sz="1116" dirty="0"/>
          </a:p>
        </p:txBody>
      </p:sp>
      <p:sp>
        <p:nvSpPr>
          <p:cNvPr id="25" name="Text 23"/>
          <p:cNvSpPr/>
          <p:nvPr/>
        </p:nvSpPr>
        <p:spPr>
          <a:xfrm>
            <a:off x="6995666" y="3260378"/>
            <a:ext cx="1554025" cy="201067"/>
          </a:xfrm>
          <a:prstGeom prst="rect">
            <a:avLst/>
          </a:prstGeom>
          <a:noFill/>
          <a:ln/>
        </p:spPr>
        <p:txBody>
          <a:bodyPr wrap="square" lIns="0" tIns="0" rIns="0" bIns="0" rtlCol="0" anchor="t"/>
          <a:lstStyle/>
          <a:p>
            <a:pPr indent="0" marL="0">
              <a:lnSpc>
                <a:spcPts val="1585"/>
              </a:lnSpc>
              <a:buNone/>
            </a:pPr>
            <a:r>
              <a:rPr lang="en-US" sz="1116" dirty="0">
                <a:solidFill>
                  <a:srgbClr val="06B6D4"/>
                </a:solidFill>
                <a:latin typeface="ui-sans-serif" pitchFamily="34" charset="0"/>
                <a:ea typeface="ui-sans-serif" pitchFamily="34" charset="-122"/>
                <a:cs typeface="ui-sans-serif" pitchFamily="34" charset="-120"/>
              </a:rPr>
              <a:t>Mayor en small-world</a:t>
            </a:r>
            <a:endParaRPr lang="en-US" sz="1116" dirty="0"/>
          </a:p>
        </p:txBody>
      </p:sp>
      <p:sp>
        <p:nvSpPr>
          <p:cNvPr id="26" name="Text 24"/>
          <p:cNvSpPr/>
          <p:nvPr/>
        </p:nvSpPr>
        <p:spPr>
          <a:xfrm>
            <a:off x="5191423" y="4215705"/>
            <a:ext cx="3394353" cy="190500"/>
          </a:xfrm>
          <a:prstGeom prst="rect">
            <a:avLst/>
          </a:prstGeom>
          <a:noFill/>
          <a:ln/>
        </p:spPr>
        <p:txBody>
          <a:bodyPr wrap="square" lIns="0" tIns="0" rIns="0" bIns="0" rtlCol="0" anchor="t"/>
          <a:lstStyle/>
          <a:p>
            <a:pPr indent="0" marL="0">
              <a:lnSpc>
                <a:spcPts val="1500"/>
              </a:lnSpc>
              <a:buNone/>
            </a:pPr>
            <a:r>
              <a:rPr lang="en-US" sz="1050" dirty="0">
                <a:solidFill>
                  <a:srgbClr val="06B6D4"/>
                </a:solidFill>
                <a:latin typeface="ui-sans-serif" pitchFamily="34" charset="0"/>
                <a:ea typeface="ui-sans-serif" pitchFamily="34" charset="-122"/>
                <a:cs typeface="ui-sans-serif" pitchFamily="34" charset="-120"/>
              </a:rPr>
              <a:t>Frase de cierre</a:t>
            </a:r>
            <a:endParaRPr lang="en-US" sz="1050" dirty="0"/>
          </a:p>
        </p:txBody>
      </p:sp>
      <p:sp>
        <p:nvSpPr>
          <p:cNvPr id="27" name="Text 25"/>
          <p:cNvSpPr/>
          <p:nvPr/>
        </p:nvSpPr>
        <p:spPr>
          <a:xfrm>
            <a:off x="5191423" y="4520505"/>
            <a:ext cx="3327797" cy="1510605"/>
          </a:xfrm>
          <a:prstGeom prst="rect">
            <a:avLst/>
          </a:prstGeom>
          <a:noFill/>
          <a:ln/>
        </p:spPr>
        <p:txBody>
          <a:bodyPr wrap="square" lIns="0" tIns="0" rIns="0" bIns="0" rtlCol="0" anchor="t"/>
          <a:lstStyle/>
          <a:p>
            <a:pPr indent="0" marL="0">
              <a:lnSpc>
                <a:spcPts val="1700"/>
              </a:lnSpc>
              <a:buNone/>
            </a:pPr>
            <a:r>
              <a:rPr lang="en-US" sz="1236" dirty="0">
                <a:solidFill>
                  <a:srgbClr val="D7DEF5"/>
                </a:solidFill>
                <a:latin typeface="ui-sans-serif" pitchFamily="34" charset="0"/>
                <a:ea typeface="ui-sans-serif" pitchFamily="34" charset="-122"/>
                <a:cs typeface="ui-sans-serif" pitchFamily="34" charset="-120"/>
              </a:rPr>
              <a:t>“La comparación relevante no es solo cuántos enlaces hay, sino </a:t>
            </a:r>
            <a:pPr indent="0" marL="0">
              <a:lnSpc>
                <a:spcPts val="1700"/>
              </a:lnSpc>
              <a:buNone/>
            </a:pPr>
            <a:r>
              <a:rPr lang="en-US" sz="1236" b="1" dirty="0">
                <a:solidFill>
                  <a:srgbClr val="D7DEF5"/>
                </a:solidFill>
                <a:latin typeface="ui-sans-serif" pitchFamily="34" charset="0"/>
                <a:ea typeface="ui-sans-serif" pitchFamily="34" charset="-122"/>
                <a:cs typeface="ui-sans-serif" pitchFamily="34" charset="-120"/>
              </a:rPr>
              <a:t>cómo se reparten</a:t>
            </a:r>
            <a:pPr indent="0" marL="0">
              <a:lnSpc>
                <a:spcPts val="1700"/>
              </a:lnSpc>
              <a:buNone/>
            </a:pPr>
            <a:r>
              <a:rPr lang="en-US" sz="1236" dirty="0">
                <a:solidFill>
                  <a:srgbClr val="D7DEF5"/>
                </a:solidFill>
                <a:latin typeface="ui-sans-serif" pitchFamily="34" charset="0"/>
                <a:ea typeface="ui-sans-serif" pitchFamily="34" charset="-122"/>
                <a:cs typeface="ui-sans-serif" pitchFamily="34" charset="-120"/>
              </a:rPr>
              <a:t>: small-world enfatiza proximidad y clustering; scale-free enfatiza concentración en hubs, con implicaciones distintas para robustez y cascadas.”</a:t>
            </a:r>
            <a:endParaRPr lang="en-US" sz="123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2026-06-06T10:08:11Z</dcterms:created>
  <dcterms:modified xsi:type="dcterms:W3CDTF">2026-06-06T10:08:11Z</dcterms:modified>
</cp:coreProperties>
</file>