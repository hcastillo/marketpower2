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457200" y="838646"/>
            <a:ext cx="2667595" cy="300782"/>
          </a:xfrm>
          <a:prstGeom prst="roundRect">
            <a:avLst>
              <a:gd name="adj" fmla="val 30370355"/>
            </a:avLst>
          </a:prstGeom>
          <a:solidFill>
            <a:srgbClr val="1A1A2E">
              <a:alpha val="80000"/>
            </a:srgbClr>
          </a:solidFill>
          <a:ln w="6350">
            <a:solidFill>
              <a:srgbClr val="FFFFFF"/>
            </a:solidFill>
          </a:ln>
        </p:spPr>
        <p:txBody>
          <a:bodyPr wrap="square" lIns="106680" tIns="106680" rIns="106680" bIns="106680" rtlCol="0" anchor="t">
            <a:normAutofit/>
          </a:bodyPr>
          <a:lstStyle/>
          <a:p>
            <a:pPr algn="l" indent="0" marL="0">
              <a:buNone/>
            </a:pPr>
            <a:r>
              <a:rPr lang="en-US" sz="1020" dirty="0">
                <a:solidFill>
                  <a:srgbClr val="D7DEF5"/>
                </a:solidFill>
                <a:latin typeface="ui-sans-serif" pitchFamily="34" charset="0"/>
                <a:ea typeface="ui-sans-serif" pitchFamily="34" charset="-122"/>
                <a:cs typeface="ui-sans-serif" pitchFamily="34" charset="-120"/>
              </a:rPr>
              <a:t>Versión académica: umbral y cascada</a:t>
            </a:r>
            <a:endParaRPr lang="en-US" sz="1020" dirty="0"/>
          </a:p>
        </p:txBody>
      </p:sp>
      <p:sp>
        <p:nvSpPr>
          <p:cNvPr id="3" name="Text 1"/>
          <p:cNvSpPr/>
          <p:nvPr/>
        </p:nvSpPr>
        <p:spPr>
          <a:xfrm>
            <a:off x="4803577" y="918418"/>
            <a:ext cx="3883223" cy="3306812"/>
          </a:xfrm>
          <a:prstGeom prst="roundRect">
            <a:avLst>
              <a:gd name="adj" fmla="val 60834"/>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4" name="Text 2"/>
          <p:cNvSpPr/>
          <p:nvPr/>
        </p:nvSpPr>
        <p:spPr>
          <a:xfrm>
            <a:off x="457200" y="-361504"/>
            <a:ext cx="4122408" cy="1047750"/>
          </a:xfrm>
          <a:prstGeom prst="rect">
            <a:avLst/>
          </a:prstGeom>
          <a:noFill/>
          <a:ln/>
        </p:spPr>
        <p:txBody>
          <a:bodyPr wrap="square" lIns="0" tIns="0" rIns="0" bIns="0" rtlCol="0" anchor="t"/>
          <a:lstStyle/>
          <a:p>
            <a:pPr indent="0" marL="0">
              <a:lnSpc>
                <a:spcPts val="8250"/>
              </a:lnSpc>
              <a:buNone/>
            </a:pPr>
            <a:r>
              <a:rPr lang="en-US" sz="8250" dirty="0">
                <a:solidFill>
                  <a:srgbClr val="F5F7FF"/>
                </a:solidFill>
                <a:latin typeface="ui-sans-serif" pitchFamily="34" charset="0"/>
                <a:ea typeface="ui-sans-serif" pitchFamily="34" charset="-122"/>
                <a:cs typeface="ui-sans-serif" pitchFamily="34" charset="-120"/>
              </a:rPr>
              <a:t>📘</a:t>
            </a:r>
            <a:endParaRPr lang="en-US" sz="8250" dirty="0"/>
          </a:p>
        </p:txBody>
      </p:sp>
      <p:sp>
        <p:nvSpPr>
          <p:cNvPr id="5" name="Text 3"/>
          <p:cNvSpPr/>
          <p:nvPr/>
        </p:nvSpPr>
        <p:spPr>
          <a:xfrm>
            <a:off x="457200" y="1291828"/>
            <a:ext cx="4041577" cy="2895600"/>
          </a:xfrm>
          <a:prstGeom prst="rect">
            <a:avLst/>
          </a:prstGeom>
          <a:noFill/>
          <a:ln/>
        </p:spPr>
        <p:txBody>
          <a:bodyPr wrap="square" lIns="0" tIns="0" rIns="0" bIns="0" rtlCol="0" anchor="t"/>
          <a:lstStyle/>
          <a:p>
            <a:pPr indent="0" marL="0">
              <a:lnSpc>
                <a:spcPts val="5700"/>
              </a:lnSpc>
              <a:buNone/>
            </a:pPr>
            <a:r>
              <a:rPr lang="en-US" sz="6000" dirty="0">
                <a:solidFill>
                  <a:srgbClr val="7C3AED"/>
                </a:solidFill>
                <a:latin typeface="Instrument Serif" pitchFamily="34" charset="0"/>
                <a:ea typeface="Instrument Serif" pitchFamily="34" charset="-122"/>
                <a:cs typeface="Instrument Serif" pitchFamily="34" charset="-120"/>
              </a:rPr>
              <a:t>Erdős-Rényi e interbancario: condición de contagio</a:t>
            </a:r>
            <a:endParaRPr lang="en-US" sz="6000" dirty="0"/>
          </a:p>
        </p:txBody>
      </p:sp>
      <p:sp>
        <p:nvSpPr>
          <p:cNvPr id="6" name="Text 4"/>
          <p:cNvSpPr/>
          <p:nvPr/>
        </p:nvSpPr>
        <p:spPr>
          <a:xfrm>
            <a:off x="457200" y="4339828"/>
            <a:ext cx="4041577" cy="1165324"/>
          </a:xfrm>
          <a:prstGeom prst="rect">
            <a:avLst/>
          </a:prstGeom>
          <a:noFill/>
          <a:ln/>
        </p:spPr>
        <p:txBody>
          <a:bodyPr wrap="square" lIns="0" tIns="0" rIns="0" bIns="0" rtlCol="0" anchor="t"/>
          <a:lstStyle/>
          <a:p>
            <a:pPr indent="0" marL="0">
              <a:lnSpc>
                <a:spcPts val="1836"/>
              </a:lnSpc>
              <a:buNone/>
            </a:pPr>
            <a:r>
              <a:rPr lang="en-US" sz="1224" dirty="0">
                <a:solidFill>
                  <a:srgbClr val="D7DEF5"/>
                </a:solidFill>
                <a:latin typeface="ui-sans-serif" pitchFamily="34" charset="0"/>
                <a:ea typeface="ui-sans-serif" pitchFamily="34" charset="-122"/>
                <a:cs typeface="ui-sans-serif" pitchFamily="34" charset="-120"/>
              </a:rPr>
              <a:t>En una red dirigida aleatoria, el contagio no depende solo de cuántos enlaces hay, sino de si los bancos alcanzados por un default son lo bastante vulnerables como para seguir transmitiendo pérdidas.</a:t>
            </a:r>
            <a:endParaRPr lang="en-US" sz="1224" dirty="0"/>
          </a:p>
        </p:txBody>
      </p:sp>
      <p:sp>
        <p:nvSpPr>
          <p:cNvPr id="7" name="Text 5"/>
          <p:cNvSpPr/>
          <p:nvPr/>
        </p:nvSpPr>
        <p:spPr>
          <a:xfrm>
            <a:off x="4971157" y="1085999"/>
            <a:ext cx="3619024" cy="190500"/>
          </a:xfrm>
          <a:prstGeom prst="rect">
            <a:avLst/>
          </a:prstGeom>
          <a:noFill/>
          <a:ln/>
        </p:spPr>
        <p:txBody>
          <a:bodyPr wrap="square" lIns="0" tIns="0" rIns="0" bIns="0" rtlCol="0" anchor="t"/>
          <a:lstStyle/>
          <a:p>
            <a:pPr indent="0" marL="0">
              <a:lnSpc>
                <a:spcPts val="1500"/>
              </a:lnSpc>
              <a:buNone/>
            </a:pPr>
            <a:r>
              <a:rPr lang="en-US" sz="1050" dirty="0">
                <a:solidFill>
                  <a:srgbClr val="06B6D4"/>
                </a:solidFill>
                <a:latin typeface="ui-sans-serif" pitchFamily="34" charset="0"/>
                <a:ea typeface="ui-sans-serif" pitchFamily="34" charset="-122"/>
                <a:cs typeface="ui-sans-serif" pitchFamily="34" charset="-120"/>
              </a:rPr>
              <a:t>Condición micro de vulnerabilidad</a:t>
            </a:r>
            <a:endParaRPr lang="en-US" sz="1050" dirty="0"/>
          </a:p>
        </p:txBody>
      </p:sp>
      <p:sp>
        <p:nvSpPr>
          <p:cNvPr id="8" name="Text 6"/>
          <p:cNvSpPr/>
          <p:nvPr/>
        </p:nvSpPr>
        <p:spPr>
          <a:xfrm>
            <a:off x="5161657" y="1836093"/>
            <a:ext cx="2192971" cy="209550"/>
          </a:xfrm>
          <a:prstGeom prst="rect">
            <a:avLst/>
          </a:prstGeom>
          <a:noFill/>
          <a:ln/>
        </p:spPr>
        <p:txBody>
          <a:bodyPr wrap="square" lIns="0" tIns="0" rIns="0" bIns="0" rtlCol="0" anchor="t"/>
          <a:lstStyle/>
          <a:p>
            <a:pPr indent="0" marL="0">
              <a:lnSpc>
                <a:spcPts val="1912"/>
              </a:lnSpc>
              <a:buNone/>
            </a:pPr>
            <a:r>
              <a:rPr lang="en-US" sz="1416" dirty="0">
                <a:solidFill>
                  <a:srgbClr val="F7FBFF"/>
                </a:solidFill>
                <a:latin typeface="Georgia" pitchFamily="34" charset="0"/>
                <a:ea typeface="Georgia" pitchFamily="34" charset="-122"/>
                <a:cs typeface="Georgia" pitchFamily="34" charset="-120"/>
              </a:rPr>
              <a:t>θ</a:t>
            </a:r>
            <a:pPr indent="0" marL="0">
              <a:lnSpc>
                <a:spcPts val="1912"/>
              </a:lnSpc>
              <a:buNone/>
            </a:pPr>
            <a:r>
              <a:rPr lang="en-US" sz="1416" dirty="0">
                <a:solidFill>
                  <a:srgbClr val="F7FBFF"/>
                </a:solidFill>
                <a:latin typeface="Georgia" pitchFamily="34" charset="0"/>
                <a:ea typeface="Georgia" pitchFamily="34" charset="-122"/>
                <a:cs typeface="Georgia" pitchFamily="34" charset="-120"/>
              </a:rPr>
              <a:t> = [K</a:t>
            </a:r>
            <a:pPr indent="0" marL="0">
              <a:lnSpc>
                <a:spcPts val="1912"/>
              </a:lnSpc>
              <a:buNone/>
            </a:pPr>
            <a:r>
              <a:rPr lang="en-US" sz="1416" dirty="0">
                <a:solidFill>
                  <a:srgbClr val="F7FBFF"/>
                </a:solidFill>
                <a:latin typeface="Georgia" pitchFamily="34" charset="0"/>
                <a:ea typeface="Georgia" pitchFamily="34" charset="-122"/>
                <a:cs typeface="Georgia" pitchFamily="34" charset="-120"/>
              </a:rPr>
              <a:t> - (1-q)A</a:t>
            </a:r>
            <a:pPr indent="0" marL="0">
              <a:lnSpc>
                <a:spcPts val="1912"/>
              </a:lnSpc>
              <a:buNone/>
            </a:pPr>
            <a:r>
              <a:rPr lang="en-US" sz="1416" dirty="0">
                <a:solidFill>
                  <a:srgbClr val="F7FBFF"/>
                </a:solidFill>
                <a:latin typeface="Georgia" pitchFamily="34" charset="0"/>
                <a:ea typeface="Georgia" pitchFamily="34" charset="-122"/>
                <a:cs typeface="Georgia" pitchFamily="34" charset="-120"/>
              </a:rPr>
              <a:t>] / A</a:t>
            </a:r>
            <a:endParaRPr lang="en-US" sz="1416" dirty="0"/>
          </a:p>
        </p:txBody>
      </p:sp>
      <p:sp>
        <p:nvSpPr>
          <p:cNvPr id="9" name="Text 7"/>
          <p:cNvSpPr/>
          <p:nvPr/>
        </p:nvSpPr>
        <p:spPr>
          <a:xfrm>
            <a:off x="5161657" y="2666851"/>
            <a:ext cx="820049" cy="209550"/>
          </a:xfrm>
          <a:prstGeom prst="rect">
            <a:avLst/>
          </a:prstGeom>
          <a:noFill/>
          <a:ln/>
        </p:spPr>
        <p:txBody>
          <a:bodyPr wrap="square" lIns="0" tIns="0" rIns="0" bIns="0" rtlCol="0" anchor="t"/>
          <a:lstStyle/>
          <a:p>
            <a:pPr indent="0" marL="0">
              <a:lnSpc>
                <a:spcPts val="1912"/>
              </a:lnSpc>
              <a:buNone/>
            </a:pPr>
            <a:r>
              <a:rPr lang="en-US" sz="1416" dirty="0">
                <a:solidFill>
                  <a:srgbClr val="F7FBFF"/>
                </a:solidFill>
                <a:latin typeface="Georgia" pitchFamily="34" charset="0"/>
                <a:ea typeface="Georgia" pitchFamily="34" charset="-122"/>
                <a:cs typeface="Georgia" pitchFamily="34" charset="-120"/>
              </a:rPr>
              <a:t>θ</a:t>
            </a:r>
            <a:pPr indent="0" marL="0">
              <a:lnSpc>
                <a:spcPts val="1912"/>
              </a:lnSpc>
              <a:buNone/>
            </a:pPr>
            <a:r>
              <a:rPr lang="en-US" sz="1416" dirty="0">
                <a:solidFill>
                  <a:srgbClr val="F7FBFF"/>
                </a:solidFill>
                <a:latin typeface="Georgia" pitchFamily="34" charset="0"/>
                <a:ea typeface="Georgia" pitchFamily="34" charset="-122"/>
                <a:cs typeface="Georgia" pitchFamily="34" charset="-120"/>
              </a:rPr>
              <a:t> &lt; 1 / j</a:t>
            </a:r>
            <a:endParaRPr lang="en-US" sz="1416" dirty="0"/>
          </a:p>
        </p:txBody>
      </p:sp>
      <p:sp>
        <p:nvSpPr>
          <p:cNvPr id="10" name="Text 8"/>
          <p:cNvSpPr/>
          <p:nvPr/>
        </p:nvSpPr>
        <p:spPr>
          <a:xfrm>
            <a:off x="4971157" y="3052316"/>
            <a:ext cx="3548063" cy="1005334"/>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Interpretación: más capital </a:t>
            </a:r>
            <a:pPr indent="0" marL="0">
              <a:lnSpc>
                <a:spcPts val="1585"/>
              </a:lnSpc>
              <a:buNone/>
            </a:pPr>
            <a:r>
              <a:rPr lang="en-US" sz="1116" i="1" dirty="0">
                <a:solidFill>
                  <a:srgbClr val="D7DEF5"/>
                </a:solidFill>
                <a:latin typeface="ui-sans-serif" pitchFamily="34" charset="0"/>
                <a:ea typeface="ui-sans-serif" pitchFamily="34" charset="-122"/>
                <a:cs typeface="ui-sans-serif" pitchFamily="34" charset="-120"/>
              </a:rPr>
              <a:t>K</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o más activos externos líquidos elevan el umbral; más exposiciones interbancarias lo reducen. Gai y Kapadia llaman “vulnerable” al banco que cae con el default de un único vecino.</a:t>
            </a:r>
            <a:endParaRPr lang="en-US" sz="1116"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457200" y="348258"/>
            <a:ext cx="4299942" cy="3004542"/>
          </a:xfrm>
          <a:prstGeom prst="roundRect">
            <a:avLst>
              <a:gd name="adj" fmla="val 66955"/>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3" name="Text 1"/>
          <p:cNvSpPr/>
          <p:nvPr/>
        </p:nvSpPr>
        <p:spPr>
          <a:xfrm>
            <a:off x="457200" y="3543300"/>
            <a:ext cx="4299942" cy="2074962"/>
          </a:xfrm>
          <a:prstGeom prst="roundRect">
            <a:avLst>
              <a:gd name="adj" fmla="val 96950"/>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4" name="Text 2"/>
          <p:cNvSpPr/>
          <p:nvPr/>
        </p:nvSpPr>
        <p:spPr>
          <a:xfrm>
            <a:off x="5023842" y="348258"/>
            <a:ext cx="3662958" cy="1042095"/>
          </a:xfrm>
          <a:prstGeom prst="roundRect">
            <a:avLst>
              <a:gd name="adj" fmla="val 193042"/>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5191423" y="793105"/>
            <a:ext cx="3327797" cy="152400"/>
          </a:xfrm>
          <a:prstGeom prst="roundRect">
            <a:avLst>
              <a:gd name="adj" fmla="val 5994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6" name="Text 4"/>
          <p:cNvSpPr/>
          <p:nvPr/>
        </p:nvSpPr>
        <p:spPr>
          <a:xfrm>
            <a:off x="5023842" y="1580852"/>
            <a:ext cx="3662958" cy="1042095"/>
          </a:xfrm>
          <a:prstGeom prst="roundRect">
            <a:avLst>
              <a:gd name="adj" fmla="val 193042"/>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5191423" y="2025700"/>
            <a:ext cx="3327797" cy="152400"/>
          </a:xfrm>
          <a:prstGeom prst="roundRect">
            <a:avLst>
              <a:gd name="adj" fmla="val 5994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8" name="Text 6"/>
          <p:cNvSpPr/>
          <p:nvPr/>
        </p:nvSpPr>
        <p:spPr>
          <a:xfrm>
            <a:off x="5023842" y="2813447"/>
            <a:ext cx="3662958" cy="2193280"/>
          </a:xfrm>
          <a:prstGeom prst="roundRect">
            <a:avLst>
              <a:gd name="adj" fmla="val 91720"/>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9" name="Text 7"/>
          <p:cNvSpPr/>
          <p:nvPr/>
        </p:nvSpPr>
        <p:spPr>
          <a:xfrm>
            <a:off x="457200" y="-474613"/>
            <a:ext cx="8394192" cy="708571"/>
          </a:xfrm>
          <a:prstGeom prst="rect">
            <a:avLst/>
          </a:prstGeom>
          <a:noFill/>
          <a:ln/>
        </p:spPr>
        <p:txBody>
          <a:bodyPr wrap="square" lIns="0" tIns="0" rIns="0" bIns="0" rtlCol="0" anchor="t"/>
          <a:lstStyle/>
          <a:p>
            <a:pPr indent="0" marL="0">
              <a:lnSpc>
                <a:spcPts val="5580"/>
              </a:lnSpc>
              <a:buNone/>
            </a:pPr>
            <a:r>
              <a:rPr lang="en-US" sz="3720" dirty="0">
                <a:solidFill>
                  <a:srgbClr val="F5F7FF"/>
                </a:solidFill>
                <a:latin typeface="Instrument Serif" pitchFamily="34" charset="0"/>
                <a:ea typeface="Instrument Serif" pitchFamily="34" charset="-122"/>
                <a:cs typeface="Instrument Serif" pitchFamily="34" charset="-120"/>
              </a:rPr>
              <a:t>Umbral de cascada y lectura económica</a:t>
            </a:r>
            <a:endParaRPr lang="en-US" sz="3720" dirty="0"/>
          </a:p>
        </p:txBody>
      </p:sp>
      <p:sp>
        <p:nvSpPr>
          <p:cNvPr id="10" name="Text 8"/>
          <p:cNvSpPr/>
          <p:nvPr/>
        </p:nvSpPr>
        <p:spPr>
          <a:xfrm>
            <a:off x="624780" y="515838"/>
            <a:ext cx="4044077" cy="190500"/>
          </a:xfrm>
          <a:prstGeom prst="rect">
            <a:avLst/>
          </a:prstGeom>
          <a:noFill/>
          <a:ln/>
        </p:spPr>
        <p:txBody>
          <a:bodyPr wrap="square" lIns="0" tIns="0" rIns="0" bIns="0" rtlCol="0" anchor="t"/>
          <a:lstStyle/>
          <a:p>
            <a:pPr indent="0" marL="0">
              <a:lnSpc>
                <a:spcPts val="1500"/>
              </a:lnSpc>
              <a:buNone/>
            </a:pPr>
            <a:r>
              <a:rPr lang="en-US" sz="1050" dirty="0">
                <a:solidFill>
                  <a:srgbClr val="A78BFA"/>
                </a:solidFill>
                <a:latin typeface="ui-sans-serif" pitchFamily="34" charset="0"/>
                <a:ea typeface="ui-sans-serif" pitchFamily="34" charset="-122"/>
                <a:cs typeface="ui-sans-serif" pitchFamily="34" charset="-120"/>
              </a:rPr>
              <a:t>Condición macro</a:t>
            </a:r>
            <a:endParaRPr lang="en-US" sz="1050" dirty="0"/>
          </a:p>
        </p:txBody>
      </p:sp>
      <p:sp>
        <p:nvSpPr>
          <p:cNvPr id="11" name="Text 9"/>
          <p:cNvSpPr/>
          <p:nvPr/>
        </p:nvSpPr>
        <p:spPr>
          <a:xfrm>
            <a:off x="815280" y="1265932"/>
            <a:ext cx="921910" cy="209550"/>
          </a:xfrm>
          <a:prstGeom prst="rect">
            <a:avLst/>
          </a:prstGeom>
          <a:noFill/>
          <a:ln/>
        </p:spPr>
        <p:txBody>
          <a:bodyPr wrap="square" lIns="0" tIns="0" rIns="0" bIns="0" rtlCol="0" anchor="t"/>
          <a:lstStyle/>
          <a:p>
            <a:pPr indent="0" marL="0">
              <a:lnSpc>
                <a:spcPts val="1912"/>
              </a:lnSpc>
              <a:buNone/>
            </a:pPr>
            <a:r>
              <a:rPr lang="en-US" sz="1416" dirty="0">
                <a:solidFill>
                  <a:srgbClr val="F7FBFF"/>
                </a:solidFill>
                <a:latin typeface="Georgia" pitchFamily="34" charset="0"/>
                <a:ea typeface="Georgia" pitchFamily="34" charset="-122"/>
                <a:cs typeface="Georgia" pitchFamily="34" charset="-120"/>
              </a:rPr>
              <a:t>G′</a:t>
            </a:r>
            <a:pPr indent="0" marL="0">
              <a:lnSpc>
                <a:spcPts val="1912"/>
              </a:lnSpc>
              <a:buNone/>
            </a:pPr>
            <a:r>
              <a:rPr lang="en-US" sz="1416" dirty="0">
                <a:solidFill>
                  <a:srgbClr val="F7FBFF"/>
                </a:solidFill>
                <a:latin typeface="Georgia" pitchFamily="34" charset="0"/>
                <a:ea typeface="Georgia" pitchFamily="34" charset="-122"/>
                <a:cs typeface="Georgia" pitchFamily="34" charset="-120"/>
              </a:rPr>
              <a:t>(1) = 1</a:t>
            </a:r>
            <a:endParaRPr lang="en-US" sz="1416" dirty="0"/>
          </a:p>
        </p:txBody>
      </p:sp>
      <p:sp>
        <p:nvSpPr>
          <p:cNvPr id="12" name="Text 10"/>
          <p:cNvSpPr/>
          <p:nvPr/>
        </p:nvSpPr>
        <p:spPr>
          <a:xfrm>
            <a:off x="815280" y="1840706"/>
            <a:ext cx="1407988" cy="200025"/>
          </a:xfrm>
          <a:prstGeom prst="rect">
            <a:avLst/>
          </a:prstGeom>
          <a:noFill/>
          <a:ln/>
        </p:spPr>
        <p:txBody>
          <a:bodyPr wrap="square" lIns="0" tIns="0" rIns="0" bIns="0" rtlCol="0" anchor="t"/>
          <a:lstStyle/>
          <a:p>
            <a:pPr indent="0" marL="0">
              <a:lnSpc>
                <a:spcPts val="1847"/>
              </a:lnSpc>
              <a:buNone/>
            </a:pPr>
            <a:r>
              <a:rPr lang="en-US" sz="1368" dirty="0">
                <a:solidFill>
                  <a:srgbClr val="F7FBFF"/>
                </a:solidFill>
                <a:latin typeface="Georgia" pitchFamily="34" charset="0"/>
                <a:ea typeface="Georgia" pitchFamily="34" charset="-122"/>
                <a:cs typeface="Georgia" pitchFamily="34" charset="-120"/>
              </a:rPr>
              <a:t>Σ</a:t>
            </a:r>
            <a:pPr indent="0" marL="0">
              <a:lnSpc>
                <a:spcPts val="1847"/>
              </a:lnSpc>
              <a:buNone/>
            </a:pPr>
            <a:r>
              <a:rPr lang="en-US" sz="1368" dirty="0">
                <a:solidFill>
                  <a:srgbClr val="F7FBFF"/>
                </a:solidFill>
                <a:latin typeface="Georgia" pitchFamily="34" charset="0"/>
                <a:ea typeface="Georgia" pitchFamily="34" charset="-122"/>
                <a:cs typeface="Georgia" pitchFamily="34" charset="-120"/>
              </a:rPr>
              <a:t> j·k·v</a:t>
            </a:r>
            <a:pPr indent="0" marL="0">
              <a:lnSpc>
                <a:spcPts val="1847"/>
              </a:lnSpc>
              <a:buNone/>
            </a:pPr>
            <a:r>
              <a:rPr lang="en-US" sz="1368" dirty="0">
                <a:solidFill>
                  <a:srgbClr val="F7FBFF"/>
                </a:solidFill>
                <a:latin typeface="Georgia" pitchFamily="34" charset="0"/>
                <a:ea typeface="Georgia" pitchFamily="34" charset="-122"/>
                <a:cs typeface="Georgia" pitchFamily="34" charset="-120"/>
              </a:rPr>
              <a:t>·p</a:t>
            </a:r>
            <a:pPr indent="0" marL="0">
              <a:lnSpc>
                <a:spcPts val="1847"/>
              </a:lnSpc>
              <a:buNone/>
            </a:pPr>
            <a:r>
              <a:rPr lang="en-US" sz="1368" dirty="0">
                <a:solidFill>
                  <a:srgbClr val="F7FBFF"/>
                </a:solidFill>
                <a:latin typeface="Georgia" pitchFamily="34" charset="0"/>
                <a:ea typeface="Georgia" pitchFamily="34" charset="-122"/>
                <a:cs typeface="Georgia" pitchFamily="34" charset="-120"/>
              </a:rPr>
              <a:t> = z</a:t>
            </a:r>
            <a:endParaRPr lang="en-US" sz="1368" dirty="0"/>
          </a:p>
        </p:txBody>
      </p:sp>
      <p:sp>
        <p:nvSpPr>
          <p:cNvPr id="13" name="Text 11"/>
          <p:cNvSpPr/>
          <p:nvPr/>
        </p:nvSpPr>
        <p:spPr>
          <a:xfrm>
            <a:off x="624780" y="2179886"/>
            <a:ext cx="3964781" cy="1005334"/>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Aquí, </a:t>
            </a:r>
            <a:pPr indent="0" marL="0">
              <a:lnSpc>
                <a:spcPts val="1585"/>
              </a:lnSpc>
              <a:buNone/>
            </a:pPr>
            <a:r>
              <a:rPr lang="en-US" sz="1116" i="1" dirty="0">
                <a:solidFill>
                  <a:srgbClr val="D7DEF5"/>
                </a:solidFill>
                <a:latin typeface="ui-sans-serif" pitchFamily="34" charset="0"/>
                <a:ea typeface="ui-sans-serif" pitchFamily="34" charset="-122"/>
                <a:cs typeface="ui-sans-serif" pitchFamily="34" charset="-120"/>
              </a:rPr>
              <a:t>p</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es la distribución conjunta de in-degree y out-degree, </a:t>
            </a:r>
            <a:pPr indent="0" marL="0">
              <a:lnSpc>
                <a:spcPts val="1585"/>
              </a:lnSpc>
              <a:buNone/>
            </a:pPr>
            <a:r>
              <a:rPr lang="en-US" sz="1116" i="1" dirty="0">
                <a:solidFill>
                  <a:srgbClr val="D7DEF5"/>
                </a:solidFill>
                <a:latin typeface="ui-sans-serif" pitchFamily="34" charset="0"/>
                <a:ea typeface="ui-sans-serif" pitchFamily="34" charset="-122"/>
                <a:cs typeface="ui-sans-serif" pitchFamily="34" charset="-120"/>
              </a:rPr>
              <a:t>v</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es la probabilidad de que un banco con in-degree </a:t>
            </a:r>
            <a:pPr indent="0" marL="0">
              <a:lnSpc>
                <a:spcPts val="1585"/>
              </a:lnSpc>
              <a:buNone/>
            </a:pPr>
            <a:r>
              <a:rPr lang="en-US" sz="1116" i="1" dirty="0">
                <a:solidFill>
                  <a:srgbClr val="D7DEF5"/>
                </a:solidFill>
                <a:latin typeface="ui-sans-serif" pitchFamily="34" charset="0"/>
                <a:ea typeface="ui-sans-serif" pitchFamily="34" charset="-122"/>
                <a:cs typeface="ui-sans-serif" pitchFamily="34" charset="-120"/>
              </a:rPr>
              <a:t>j</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sea vulnerable y </a:t>
            </a:r>
            <a:pPr indent="0" marL="0">
              <a:lnSpc>
                <a:spcPts val="1585"/>
              </a:lnSpc>
              <a:buNone/>
            </a:pPr>
            <a:r>
              <a:rPr lang="en-US" sz="1116" i="1" dirty="0">
                <a:solidFill>
                  <a:srgbClr val="D7DEF5"/>
                </a:solidFill>
                <a:latin typeface="ui-sans-serif" pitchFamily="34" charset="0"/>
                <a:ea typeface="ui-sans-serif" pitchFamily="34" charset="-122"/>
                <a:cs typeface="ui-sans-serif" pitchFamily="34" charset="-120"/>
              </a:rPr>
              <a:t>z</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es el grado medio. Si el lado izquierdo supera 1 en términos reproductivos, la cascada puede sostenerse.</a:t>
            </a:r>
            <a:endParaRPr lang="en-US" sz="1116" dirty="0"/>
          </a:p>
        </p:txBody>
      </p:sp>
      <p:sp>
        <p:nvSpPr>
          <p:cNvPr id="14" name="Text 12"/>
          <p:cNvSpPr/>
          <p:nvPr/>
        </p:nvSpPr>
        <p:spPr>
          <a:xfrm>
            <a:off x="624780" y="3710880"/>
            <a:ext cx="4044077" cy="190500"/>
          </a:xfrm>
          <a:prstGeom prst="rect">
            <a:avLst/>
          </a:prstGeom>
          <a:noFill/>
          <a:ln/>
        </p:spPr>
        <p:txBody>
          <a:bodyPr wrap="square" lIns="0" tIns="0" rIns="0" bIns="0" rtlCol="0" anchor="t"/>
          <a:lstStyle/>
          <a:p>
            <a:pPr indent="0" marL="0">
              <a:lnSpc>
                <a:spcPts val="1500"/>
              </a:lnSpc>
              <a:buNone/>
            </a:pPr>
            <a:r>
              <a:rPr lang="en-US" sz="1050" dirty="0">
                <a:solidFill>
                  <a:srgbClr val="06B6D4"/>
                </a:solidFill>
                <a:latin typeface="ui-sans-serif" pitchFamily="34" charset="0"/>
                <a:ea typeface="ui-sans-serif" pitchFamily="34" charset="-122"/>
                <a:cs typeface="ui-sans-serif" pitchFamily="34" charset="-120"/>
              </a:rPr>
              <a:t>Intuición tipo branching process</a:t>
            </a:r>
            <a:endParaRPr lang="en-US" sz="1050" dirty="0"/>
          </a:p>
        </p:txBody>
      </p:sp>
      <p:sp>
        <p:nvSpPr>
          <p:cNvPr id="15" name="Text 13"/>
          <p:cNvSpPr/>
          <p:nvPr/>
        </p:nvSpPr>
        <p:spPr>
          <a:xfrm>
            <a:off x="624780" y="4015680"/>
            <a:ext cx="3964781" cy="402134"/>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Cada banco vulnerable alcanzado genera nuevos bancos vulnerables esperados.</a:t>
            </a:r>
            <a:endParaRPr lang="en-US" sz="1116" dirty="0"/>
          </a:p>
        </p:txBody>
      </p:sp>
      <p:sp>
        <p:nvSpPr>
          <p:cNvPr id="16" name="Text 14"/>
          <p:cNvSpPr/>
          <p:nvPr/>
        </p:nvSpPr>
        <p:spPr>
          <a:xfrm>
            <a:off x="624780" y="4532114"/>
            <a:ext cx="3964781" cy="402134"/>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Si el “número reproductivo” esperado es menor que 1, la cadena se extingue.</a:t>
            </a:r>
            <a:endParaRPr lang="en-US" sz="1116" dirty="0"/>
          </a:p>
        </p:txBody>
      </p:sp>
      <p:sp>
        <p:nvSpPr>
          <p:cNvPr id="17" name="Text 15"/>
          <p:cNvSpPr/>
          <p:nvPr/>
        </p:nvSpPr>
        <p:spPr>
          <a:xfrm>
            <a:off x="624780" y="5048548"/>
            <a:ext cx="3964781" cy="402134"/>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Si supera 1, aparece un clúster gigante vulnerable y el contagio sistémico tiene probabilidad positiva.</a:t>
            </a:r>
            <a:endParaRPr lang="en-US" sz="1116" dirty="0"/>
          </a:p>
        </p:txBody>
      </p:sp>
      <p:sp>
        <p:nvSpPr>
          <p:cNvPr id="18" name="Text 16"/>
          <p:cNvSpPr/>
          <p:nvPr/>
        </p:nvSpPr>
        <p:spPr>
          <a:xfrm>
            <a:off x="5191423" y="515838"/>
            <a:ext cx="718795" cy="2010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Subcrítico</a:t>
            </a:r>
            <a:endParaRPr lang="en-US" sz="1116" dirty="0"/>
          </a:p>
        </p:txBody>
      </p:sp>
      <p:sp>
        <p:nvSpPr>
          <p:cNvPr id="19" name="Text 17"/>
          <p:cNvSpPr/>
          <p:nvPr/>
        </p:nvSpPr>
        <p:spPr>
          <a:xfrm>
            <a:off x="8121700" y="515838"/>
            <a:ext cx="405470" cy="201067"/>
          </a:xfrm>
          <a:prstGeom prst="rect">
            <a:avLst/>
          </a:prstGeom>
          <a:noFill/>
          <a:ln/>
        </p:spPr>
        <p:txBody>
          <a:bodyPr wrap="square" lIns="0" tIns="0" rIns="0" bIns="0" rtlCol="0" anchor="t"/>
          <a:lstStyle/>
          <a:p>
            <a:pPr indent="0" marL="0">
              <a:lnSpc>
                <a:spcPts val="1585"/>
              </a:lnSpc>
              <a:buNone/>
            </a:pPr>
            <a:r>
              <a:rPr lang="en-US" sz="1116" dirty="0">
                <a:solidFill>
                  <a:srgbClr val="06B6D4"/>
                </a:solidFill>
                <a:latin typeface="ui-sans-serif" pitchFamily="34" charset="0"/>
                <a:ea typeface="ui-sans-serif" pitchFamily="34" charset="-122"/>
                <a:cs typeface="ui-sans-serif" pitchFamily="34" charset="-120"/>
              </a:rPr>
              <a:t>R &lt; 1</a:t>
            </a:r>
            <a:endParaRPr lang="en-US" sz="1116" dirty="0"/>
          </a:p>
        </p:txBody>
      </p:sp>
      <p:sp>
        <p:nvSpPr>
          <p:cNvPr id="20" name="Text 18"/>
          <p:cNvSpPr/>
          <p:nvPr/>
        </p:nvSpPr>
        <p:spPr>
          <a:xfrm>
            <a:off x="5191423" y="1021705"/>
            <a:ext cx="3394353" cy="2010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Defaults locales, clústeres finitos.</a:t>
            </a:r>
            <a:endParaRPr lang="en-US" sz="1116" dirty="0"/>
          </a:p>
        </p:txBody>
      </p:sp>
      <p:sp>
        <p:nvSpPr>
          <p:cNvPr id="21" name="Text 19"/>
          <p:cNvSpPr/>
          <p:nvPr/>
        </p:nvSpPr>
        <p:spPr>
          <a:xfrm>
            <a:off x="5191423" y="1748433"/>
            <a:ext cx="864072" cy="2010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Supercrítico</a:t>
            </a:r>
            <a:endParaRPr lang="en-US" sz="1116" dirty="0"/>
          </a:p>
        </p:txBody>
      </p:sp>
      <p:sp>
        <p:nvSpPr>
          <p:cNvPr id="22" name="Text 20"/>
          <p:cNvSpPr/>
          <p:nvPr/>
        </p:nvSpPr>
        <p:spPr>
          <a:xfrm>
            <a:off x="8121700" y="1748433"/>
            <a:ext cx="405470" cy="201067"/>
          </a:xfrm>
          <a:prstGeom prst="rect">
            <a:avLst/>
          </a:prstGeom>
          <a:noFill/>
          <a:ln/>
        </p:spPr>
        <p:txBody>
          <a:bodyPr wrap="square" lIns="0" tIns="0" rIns="0" bIns="0" rtlCol="0" anchor="t"/>
          <a:lstStyle/>
          <a:p>
            <a:pPr indent="0" marL="0">
              <a:lnSpc>
                <a:spcPts val="1585"/>
              </a:lnSpc>
              <a:buNone/>
            </a:pPr>
            <a:r>
              <a:rPr lang="en-US" sz="1116" dirty="0">
                <a:solidFill>
                  <a:srgbClr val="7C3AED"/>
                </a:solidFill>
                <a:latin typeface="ui-sans-serif" pitchFamily="34" charset="0"/>
                <a:ea typeface="ui-sans-serif" pitchFamily="34" charset="-122"/>
                <a:cs typeface="ui-sans-serif" pitchFamily="34" charset="-120"/>
              </a:rPr>
              <a:t>R &gt; 1</a:t>
            </a:r>
            <a:endParaRPr lang="en-US" sz="1116" dirty="0"/>
          </a:p>
        </p:txBody>
      </p:sp>
      <p:sp>
        <p:nvSpPr>
          <p:cNvPr id="23" name="Text 21"/>
          <p:cNvSpPr/>
          <p:nvPr/>
        </p:nvSpPr>
        <p:spPr>
          <a:xfrm>
            <a:off x="5191423" y="2254300"/>
            <a:ext cx="3394353" cy="2010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Puede emerger cascada extensa.</a:t>
            </a:r>
            <a:endParaRPr lang="en-US" sz="1116" dirty="0"/>
          </a:p>
        </p:txBody>
      </p:sp>
      <p:sp>
        <p:nvSpPr>
          <p:cNvPr id="24" name="Text 22"/>
          <p:cNvSpPr/>
          <p:nvPr/>
        </p:nvSpPr>
        <p:spPr>
          <a:xfrm>
            <a:off x="5191423" y="2981027"/>
            <a:ext cx="3394353" cy="190500"/>
          </a:xfrm>
          <a:prstGeom prst="rect">
            <a:avLst/>
          </a:prstGeom>
          <a:noFill/>
          <a:ln/>
        </p:spPr>
        <p:txBody>
          <a:bodyPr wrap="square" lIns="0" tIns="0" rIns="0" bIns="0" rtlCol="0" anchor="t"/>
          <a:lstStyle/>
          <a:p>
            <a:pPr indent="0" marL="0">
              <a:lnSpc>
                <a:spcPts val="1500"/>
              </a:lnSpc>
              <a:buNone/>
            </a:pPr>
            <a:r>
              <a:rPr lang="en-US" sz="1050" dirty="0">
                <a:solidFill>
                  <a:srgbClr val="7C3AED"/>
                </a:solidFill>
                <a:latin typeface="ui-sans-serif" pitchFamily="34" charset="0"/>
                <a:ea typeface="ui-sans-serif" pitchFamily="34" charset="-122"/>
                <a:cs typeface="ui-sans-serif" pitchFamily="34" charset="-120"/>
              </a:rPr>
              <a:t>Mensaje académico de cierre</a:t>
            </a:r>
            <a:endParaRPr lang="en-US" sz="1050" dirty="0"/>
          </a:p>
        </p:txBody>
      </p:sp>
      <p:sp>
        <p:nvSpPr>
          <p:cNvPr id="25" name="Text 23"/>
          <p:cNvSpPr/>
          <p:nvPr/>
        </p:nvSpPr>
        <p:spPr>
          <a:xfrm>
            <a:off x="5191423" y="3285827"/>
            <a:ext cx="3327797" cy="1553319"/>
          </a:xfrm>
          <a:prstGeom prst="rect">
            <a:avLst/>
          </a:prstGeom>
          <a:noFill/>
          <a:ln/>
        </p:spPr>
        <p:txBody>
          <a:bodyPr wrap="square" lIns="0" tIns="0" rIns="0" bIns="0" rtlCol="0" anchor="t"/>
          <a:lstStyle/>
          <a:p>
            <a:pPr indent="0" marL="0">
              <a:lnSpc>
                <a:spcPts val="1749"/>
              </a:lnSpc>
              <a:buNone/>
            </a:pPr>
            <a:r>
              <a:rPr lang="en-US" sz="1272" dirty="0">
                <a:solidFill>
                  <a:srgbClr val="D7DEF5"/>
                </a:solidFill>
                <a:latin typeface="ui-sans-serif" pitchFamily="34" charset="0"/>
                <a:ea typeface="ui-sans-serif" pitchFamily="34" charset="-122"/>
                <a:cs typeface="ui-sans-serif" pitchFamily="34" charset="-120"/>
              </a:rPr>
              <a:t>En un Erdős-Rényi, el grado esperado es aproximadamente </a:t>
            </a:r>
            <a:pPr indent="0" marL="0">
              <a:lnSpc>
                <a:spcPts val="1749"/>
              </a:lnSpc>
              <a:buNone/>
            </a:pPr>
            <a:r>
              <a:rPr lang="en-US" sz="1272" b="1" dirty="0">
                <a:solidFill>
                  <a:srgbClr val="D7DEF5"/>
                </a:solidFill>
                <a:latin typeface="ui-sans-serif" pitchFamily="34" charset="0"/>
                <a:ea typeface="ui-sans-serif" pitchFamily="34" charset="-122"/>
                <a:cs typeface="ui-sans-serif" pitchFamily="34" charset="-120"/>
              </a:rPr>
              <a:t>p(N-1)</a:t>
            </a:r>
            <a:pPr indent="0" marL="0">
              <a:lnSpc>
                <a:spcPts val="1749"/>
              </a:lnSpc>
              <a:buNone/>
            </a:pPr>
            <a:r>
              <a:rPr lang="en-US" sz="1272" dirty="0">
                <a:solidFill>
                  <a:srgbClr val="D7DEF5"/>
                </a:solidFill>
                <a:latin typeface="ui-sans-serif" pitchFamily="34" charset="0"/>
                <a:ea typeface="ui-sans-serif" pitchFamily="34" charset="-122"/>
                <a:cs typeface="ui-sans-serif" pitchFamily="34" charset="-120"/>
              </a:rPr>
              <a:t>. Por eso, al mover </a:t>
            </a:r>
            <a:pPr indent="0" marL="0">
              <a:lnSpc>
                <a:spcPts val="1749"/>
              </a:lnSpc>
              <a:buNone/>
            </a:pPr>
            <a:r>
              <a:rPr lang="en-US" sz="1272" i="1" dirty="0">
                <a:solidFill>
                  <a:srgbClr val="D7DEF5"/>
                </a:solidFill>
                <a:latin typeface="ui-sans-serif" pitchFamily="34" charset="0"/>
                <a:ea typeface="ui-sans-serif" pitchFamily="34" charset="-122"/>
                <a:cs typeface="ui-sans-serif" pitchFamily="34" charset="-120"/>
              </a:rPr>
              <a:t>p</a:t>
            </a:r>
            <a:pPr indent="0" marL="0">
              <a:lnSpc>
                <a:spcPts val="1749"/>
              </a:lnSpc>
              <a:buNone/>
            </a:pPr>
            <a:r>
              <a:rPr lang="en-US" sz="1272" dirty="0">
                <a:solidFill>
                  <a:srgbClr val="D7DEF5"/>
                </a:solidFill>
                <a:latin typeface="ui-sans-serif" pitchFamily="34" charset="0"/>
                <a:ea typeface="ui-sans-serif" pitchFamily="34" charset="-122"/>
                <a:cs typeface="ui-sans-serif" pitchFamily="34" charset="-120"/>
              </a:rPr>
              <a:t> cambias simultáneamente la conectividad media y la probabilidad de entrar o salir de la región crítica donde una perturbación idiosincrática puede convertirse en cascada sistémica.</a:t>
            </a:r>
            <a:endParaRPr lang="en-US" sz="127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Perplexity</cp:lastModifiedBy>
  <cp:revision>1</cp:revision>
  <dcterms:created xsi:type="dcterms:W3CDTF">2026-06-04T07:16:32Z</dcterms:created>
  <dcterms:modified xsi:type="dcterms:W3CDTF">2026-06-04T07:16:32Z</dcterms:modified>
</cp:coreProperties>
</file>